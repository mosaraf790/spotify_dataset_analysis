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6"/>
  </p:notesMasterIdLst>
  <p:sldIdLst>
    <p:sldId id="256" r:id="rId2"/>
    <p:sldId id="258" r:id="rId3"/>
    <p:sldId id="257" r:id="rId4"/>
    <p:sldId id="259" r:id="rId5"/>
    <p:sldId id="260" r:id="rId6"/>
    <p:sldId id="289" r:id="rId7"/>
    <p:sldId id="290" r:id="rId8"/>
    <p:sldId id="261" r:id="rId9"/>
    <p:sldId id="262" r:id="rId10"/>
    <p:sldId id="263" r:id="rId11"/>
    <p:sldId id="265" r:id="rId12"/>
    <p:sldId id="264" r:id="rId13"/>
    <p:sldId id="266" r:id="rId14"/>
    <p:sldId id="267" r:id="rId15"/>
    <p:sldId id="291" r:id="rId16"/>
    <p:sldId id="268" r:id="rId17"/>
    <p:sldId id="269" r:id="rId18"/>
    <p:sldId id="270" r:id="rId19"/>
    <p:sldId id="271" r:id="rId20"/>
    <p:sldId id="292" r:id="rId21"/>
    <p:sldId id="272" r:id="rId22"/>
    <p:sldId id="273" r:id="rId23"/>
    <p:sldId id="274" r:id="rId24"/>
    <p:sldId id="276" r:id="rId25"/>
    <p:sldId id="277" r:id="rId26"/>
    <p:sldId id="278" r:id="rId27"/>
    <p:sldId id="279" r:id="rId28"/>
    <p:sldId id="280" r:id="rId29"/>
    <p:sldId id="281" r:id="rId30"/>
    <p:sldId id="282" r:id="rId31"/>
    <p:sldId id="284" r:id="rId32"/>
    <p:sldId id="285" r:id="rId33"/>
    <p:sldId id="286" r:id="rId34"/>
    <p:sldId id="287"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F3399"/>
    <a:srgbClr val="6600CC"/>
    <a:srgbClr val="71177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914" autoAdjust="0"/>
  </p:normalViewPr>
  <p:slideViewPr>
    <p:cSldViewPr snapToGrid="0">
      <p:cViewPr>
        <p:scale>
          <a:sx n="75" d="100"/>
          <a:sy n="75" d="100"/>
        </p:scale>
        <p:origin x="974"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5T16:22:36.743"/>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1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9012D3-7CF9-4245-97A2-3EB3C6155BB8}" type="datetimeFigureOut">
              <a:rPr lang="en-US" smtClean="0"/>
              <a:t>11/25/2025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97E1FE-1BFE-4143-8B42-82EAD03C8577}" type="slidenum">
              <a:rPr lang="en-US" smtClean="0"/>
              <a:t>‹#›</a:t>
            </a:fld>
            <a:endParaRPr lang="en-US"/>
          </a:p>
        </p:txBody>
      </p:sp>
    </p:spTree>
    <p:extLst>
      <p:ext uri="{BB962C8B-B14F-4D97-AF65-F5344CB8AC3E}">
        <p14:creationId xmlns:p14="http://schemas.microsoft.com/office/powerpoint/2010/main" val="1207254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497E1FE-1BFE-4143-8B42-82EAD03C8577}" type="slidenum">
              <a:rPr lang="en-US" smtClean="0"/>
              <a:t>24</a:t>
            </a:fld>
            <a:endParaRPr lang="en-US"/>
          </a:p>
        </p:txBody>
      </p:sp>
    </p:spTree>
    <p:extLst>
      <p:ext uri="{BB962C8B-B14F-4D97-AF65-F5344CB8AC3E}">
        <p14:creationId xmlns:p14="http://schemas.microsoft.com/office/powerpoint/2010/main" val="23050670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11/24/2025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11/24/2025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11/24/2025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11/24/2025</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1.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435E8-C759-1BA7-DDDD-10E0499BC749}"/>
              </a:ext>
            </a:extLst>
          </p:cNvPr>
          <p:cNvSpPr>
            <a:spLocks noGrp="1"/>
          </p:cNvSpPr>
          <p:nvPr>
            <p:ph type="ctrTitle"/>
          </p:nvPr>
        </p:nvSpPr>
        <p:spPr>
          <a:xfrm>
            <a:off x="0" y="668245"/>
            <a:ext cx="12192000" cy="2375994"/>
          </a:xfrm>
        </p:spPr>
        <p:txBody>
          <a:bodyPr>
            <a:normAutofit fontScale="90000"/>
          </a:bodyPr>
          <a:lstStyle/>
          <a:p>
            <a:r>
              <a:rPr lang="en-US" b="1" i="1" u="sng" dirty="0">
                <a:solidFill>
                  <a:schemeClr val="accent3">
                    <a:lumMod val="50000"/>
                  </a:schemeClr>
                </a:solidFill>
                <a:latin typeface="Garamond" panose="02020404030301010803" pitchFamily="18" charset="0"/>
              </a:rPr>
              <a:t>Decoding Hit Songs: A Data-Driven Journey into Spotify’s Sound DNA</a:t>
            </a:r>
            <a:br>
              <a:rPr lang="en-US" b="1" i="1" u="sng" dirty="0">
                <a:highlight>
                  <a:srgbClr val="00FFFF"/>
                </a:highlight>
                <a:latin typeface="Garamond" panose="02020404030301010803" pitchFamily="18" charset="0"/>
              </a:rPr>
            </a:br>
            <a:endParaRPr lang="en-US" dirty="0"/>
          </a:p>
        </p:txBody>
      </p:sp>
      <p:pic>
        <p:nvPicPr>
          <p:cNvPr id="4" name="Picture 2">
            <a:extLst>
              <a:ext uri="{FF2B5EF4-FFF2-40B4-BE49-F238E27FC236}">
                <a16:creationId xmlns:a16="http://schemas.microsoft.com/office/drawing/2014/main" id="{C8A92A3E-8AE6-3080-10B0-689F99CD32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7260" y="2571750"/>
            <a:ext cx="5502440" cy="17145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702516F-9508-1086-0620-D2E92FE4A993}"/>
              </a:ext>
            </a:extLst>
          </p:cNvPr>
          <p:cNvSpPr txBox="1"/>
          <p:nvPr/>
        </p:nvSpPr>
        <p:spPr>
          <a:xfrm>
            <a:off x="0" y="4804760"/>
            <a:ext cx="11421978" cy="1384995"/>
          </a:xfrm>
          <a:prstGeom prst="rect">
            <a:avLst/>
          </a:prstGeom>
          <a:noFill/>
        </p:spPr>
        <p:txBody>
          <a:bodyPr wrap="square">
            <a:spAutoFit/>
          </a:bodyPr>
          <a:lstStyle/>
          <a:p>
            <a:r>
              <a:rPr lang="en-US" sz="2800" b="1" dirty="0">
                <a:highlight>
                  <a:srgbClr val="FFFF00"/>
                </a:highlight>
              </a:rPr>
              <a:t>Presented by</a:t>
            </a:r>
            <a:r>
              <a:rPr lang="en-US" sz="2800" b="1" dirty="0"/>
              <a:t>: </a:t>
            </a:r>
            <a:br>
              <a:rPr lang="en-US" sz="2800" dirty="0"/>
            </a:br>
            <a:r>
              <a:rPr lang="en-US" sz="2800" dirty="0"/>
              <a:t>                </a:t>
            </a:r>
            <a:r>
              <a:rPr lang="en-US" sz="2800" i="1" dirty="0" err="1">
                <a:solidFill>
                  <a:schemeClr val="accent1">
                    <a:lumMod val="75000"/>
                  </a:schemeClr>
                </a:solidFill>
                <a:latin typeface="Artifakt Element Heavy" panose="020B0B03050000020004" pitchFamily="34" charset="0"/>
                <a:ea typeface="Artifakt Element Heavy" panose="020B0B03050000020004" pitchFamily="34" charset="0"/>
              </a:rPr>
              <a:t>Sk</a:t>
            </a:r>
            <a:r>
              <a:rPr lang="en-US" sz="2800" i="1" dirty="0">
                <a:solidFill>
                  <a:schemeClr val="accent1">
                    <a:lumMod val="75000"/>
                  </a:schemeClr>
                </a:solidFill>
                <a:latin typeface="Artifakt Element Heavy" panose="020B0B03050000020004" pitchFamily="34" charset="0"/>
                <a:ea typeface="Artifakt Element Heavy" panose="020B0B03050000020004" pitchFamily="34" charset="0"/>
              </a:rPr>
              <a:t> </a:t>
            </a:r>
            <a:r>
              <a:rPr lang="en-US" sz="2800" i="1" dirty="0" err="1">
                <a:solidFill>
                  <a:schemeClr val="accent1">
                    <a:lumMod val="75000"/>
                  </a:schemeClr>
                </a:solidFill>
                <a:latin typeface="Artifakt Element Heavy" panose="020B0B03050000020004" pitchFamily="34" charset="0"/>
                <a:ea typeface="Artifakt Element Heavy" panose="020B0B03050000020004" pitchFamily="34" charset="0"/>
              </a:rPr>
              <a:t>Mosaraf</a:t>
            </a:r>
            <a:r>
              <a:rPr lang="en-US" sz="2800" dirty="0">
                <a:solidFill>
                  <a:schemeClr val="accent1">
                    <a:lumMod val="75000"/>
                  </a:schemeClr>
                </a:solidFill>
                <a:latin typeface="Artifakt Element Heavy" panose="020B0B03050000020004" pitchFamily="34" charset="0"/>
                <a:ea typeface="Artifakt Element Heavy" panose="020B0B03050000020004" pitchFamily="34" charset="0"/>
              </a:rPr>
              <a:t> </a:t>
            </a:r>
            <a:r>
              <a:rPr lang="en-US" sz="2800" dirty="0"/>
              <a:t>— </a:t>
            </a:r>
            <a:r>
              <a:rPr lang="en-US" b="1" dirty="0" err="1">
                <a:solidFill>
                  <a:srgbClr val="002060"/>
                </a:solidFill>
                <a:latin typeface="Arial Black" panose="020B0A04020102020204" pitchFamily="34" charset="0"/>
              </a:rPr>
              <a:t>B.Tech</a:t>
            </a:r>
            <a:r>
              <a:rPr lang="en-US" b="1" dirty="0">
                <a:solidFill>
                  <a:srgbClr val="002060"/>
                </a:solidFill>
                <a:latin typeface="Arial Black" panose="020B0A04020102020204" pitchFamily="34" charset="0"/>
              </a:rPr>
              <a:t>  CSE </a:t>
            </a:r>
            <a:br>
              <a:rPr lang="en-US" sz="2800" dirty="0"/>
            </a:br>
            <a:r>
              <a:rPr lang="en-US" sz="2800" dirty="0"/>
              <a:t>          </a:t>
            </a:r>
            <a:r>
              <a:rPr lang="en-US" sz="2800" b="1" dirty="0">
                <a:solidFill>
                  <a:schemeClr val="accent1">
                    <a:lumMod val="75000"/>
                  </a:schemeClr>
                </a:solidFill>
                <a:latin typeface="Arial Narrow" panose="020B0606020202030204" pitchFamily="34" charset="0"/>
              </a:rPr>
              <a:t>Under Project Theme</a:t>
            </a:r>
            <a:r>
              <a:rPr lang="en-US" sz="2800" b="1" dirty="0"/>
              <a:t>:</a:t>
            </a:r>
            <a:r>
              <a:rPr lang="en-US" sz="2800" dirty="0"/>
              <a:t> </a:t>
            </a:r>
            <a:r>
              <a:rPr lang="en-US" sz="2800" dirty="0">
                <a:solidFill>
                  <a:srgbClr val="FF0000"/>
                </a:solidFill>
                <a:latin typeface="Arial Black" panose="020B0A04020102020204" pitchFamily="34" charset="0"/>
              </a:rPr>
              <a:t>The Manhattan EDA Challenge 2025</a:t>
            </a:r>
          </a:p>
        </p:txBody>
      </p:sp>
    </p:spTree>
    <p:extLst>
      <p:ext uri="{BB962C8B-B14F-4D97-AF65-F5344CB8AC3E}">
        <p14:creationId xmlns:p14="http://schemas.microsoft.com/office/powerpoint/2010/main" val="1936351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8EBDE2-1D36-F760-A3C2-2FF6EB9EEC21}"/>
              </a:ext>
            </a:extLst>
          </p:cNvPr>
          <p:cNvSpPr txBox="1"/>
          <p:nvPr/>
        </p:nvSpPr>
        <p:spPr>
          <a:xfrm>
            <a:off x="1122947" y="1377297"/>
            <a:ext cx="6096000" cy="1323439"/>
          </a:xfrm>
          <a:prstGeom prst="rect">
            <a:avLst/>
          </a:prstGeom>
          <a:noFill/>
        </p:spPr>
        <p:txBody>
          <a:bodyPr wrap="square">
            <a:spAutoFit/>
          </a:bodyPr>
          <a:lstStyle/>
          <a:p>
            <a:r>
              <a:rPr lang="en-US" sz="4000" dirty="0">
                <a:latin typeface="Arial Black" panose="020B0A04020102020204" pitchFamily="34" charset="0"/>
              </a:rPr>
              <a:t>Problem</a:t>
            </a:r>
            <a:br>
              <a:rPr lang="en-US" sz="4000" dirty="0">
                <a:latin typeface="Arial Black" panose="020B0A04020102020204" pitchFamily="34" charset="0"/>
              </a:rPr>
            </a:br>
            <a:r>
              <a:rPr lang="en-US" sz="4000" dirty="0">
                <a:latin typeface="Arial Black" panose="020B0A04020102020204" pitchFamily="34" charset="0"/>
              </a:rPr>
              <a:t>Statement</a:t>
            </a:r>
          </a:p>
        </p:txBody>
      </p:sp>
      <p:sp>
        <p:nvSpPr>
          <p:cNvPr id="5" name="TextBox 4">
            <a:extLst>
              <a:ext uri="{FF2B5EF4-FFF2-40B4-BE49-F238E27FC236}">
                <a16:creationId xmlns:a16="http://schemas.microsoft.com/office/drawing/2014/main" id="{0A376FDA-DA2B-ADFF-D39A-0170430A2070}"/>
              </a:ext>
            </a:extLst>
          </p:cNvPr>
          <p:cNvSpPr txBox="1"/>
          <p:nvPr/>
        </p:nvSpPr>
        <p:spPr>
          <a:xfrm>
            <a:off x="1588169" y="2988984"/>
            <a:ext cx="8919410" cy="1938992"/>
          </a:xfrm>
          <a:prstGeom prst="rect">
            <a:avLst/>
          </a:prstGeom>
          <a:noFill/>
        </p:spPr>
        <p:txBody>
          <a:bodyPr wrap="square">
            <a:spAutoFit/>
          </a:bodyPr>
          <a:lstStyle/>
          <a:p>
            <a:pPr marL="0" indent="0">
              <a:buNone/>
            </a:pPr>
            <a:r>
              <a:rPr lang="en-US" sz="2400" dirty="0">
                <a:latin typeface="Arial Narrow" panose="020B0606020202030204" pitchFamily="34" charset="0"/>
              </a:rPr>
              <a:t>This project is a deep dive into Exploratory Data Analysis (EDA) using a dataset of Spotify tracks. The goal is to perform a comprehensive analysis to understand the characteristics of the tracks, identify key relationships between different audio features, and uncover insights that could be used for</a:t>
            </a:r>
            <a:br>
              <a:rPr lang="en-US" sz="2400" dirty="0">
                <a:latin typeface="Arial Narrow" panose="020B0606020202030204" pitchFamily="34" charset="0"/>
              </a:rPr>
            </a:br>
            <a:r>
              <a:rPr lang="en-US" sz="2400" dirty="0">
                <a:latin typeface="Arial Narrow" panose="020B0606020202030204" pitchFamily="34" charset="0"/>
              </a:rPr>
              <a:t>tasks like music recommendation or understanding music trends.</a:t>
            </a:r>
          </a:p>
        </p:txBody>
      </p:sp>
    </p:spTree>
    <p:extLst>
      <p:ext uri="{BB962C8B-B14F-4D97-AF65-F5344CB8AC3E}">
        <p14:creationId xmlns:p14="http://schemas.microsoft.com/office/powerpoint/2010/main" val="3948693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025DEF-5FB6-AAB7-60BA-FD737CD2F205}"/>
              </a:ext>
            </a:extLst>
          </p:cNvPr>
          <p:cNvSpPr txBox="1"/>
          <p:nvPr/>
        </p:nvSpPr>
        <p:spPr>
          <a:xfrm>
            <a:off x="1395663" y="1114744"/>
            <a:ext cx="6096000" cy="769441"/>
          </a:xfrm>
          <a:prstGeom prst="rect">
            <a:avLst/>
          </a:prstGeom>
          <a:noFill/>
        </p:spPr>
        <p:txBody>
          <a:bodyPr wrap="square">
            <a:spAutoFit/>
          </a:bodyPr>
          <a:lstStyle/>
          <a:p>
            <a:r>
              <a:rPr lang="en-US" sz="4400" dirty="0">
                <a:latin typeface="Arial Black" panose="020B0A04020102020204" pitchFamily="34" charset="0"/>
              </a:rPr>
              <a:t>Agendas</a:t>
            </a:r>
          </a:p>
        </p:txBody>
      </p:sp>
      <p:sp>
        <p:nvSpPr>
          <p:cNvPr id="5" name="TextBox 4">
            <a:extLst>
              <a:ext uri="{FF2B5EF4-FFF2-40B4-BE49-F238E27FC236}">
                <a16:creationId xmlns:a16="http://schemas.microsoft.com/office/drawing/2014/main" id="{5BEF3D74-99F2-953D-0B74-1F9DD5A78EB5}"/>
              </a:ext>
            </a:extLst>
          </p:cNvPr>
          <p:cNvSpPr txBox="1"/>
          <p:nvPr/>
        </p:nvSpPr>
        <p:spPr>
          <a:xfrm>
            <a:off x="5133473" y="1351508"/>
            <a:ext cx="6096000" cy="4154984"/>
          </a:xfrm>
          <a:prstGeom prst="rect">
            <a:avLst/>
          </a:prstGeom>
          <a:noFill/>
        </p:spPr>
        <p:txBody>
          <a:bodyPr wrap="square">
            <a:spAutoFit/>
          </a:bodyPr>
          <a:lstStyle/>
          <a:p>
            <a:pPr marL="742950" indent="-742950">
              <a:buAutoNum type="arabicPeriod"/>
            </a:pPr>
            <a:r>
              <a:rPr lang="en-US" sz="4400" dirty="0">
                <a:solidFill>
                  <a:schemeClr val="accent2">
                    <a:lumMod val="75000"/>
                  </a:schemeClr>
                </a:solidFill>
                <a:latin typeface="Bahnschrift Condensed" panose="020B0502040204020203" pitchFamily="34" charset="0"/>
              </a:rPr>
              <a:t>Data Descriptions</a:t>
            </a:r>
          </a:p>
          <a:p>
            <a:r>
              <a:rPr lang="en-US" sz="4400" dirty="0">
                <a:solidFill>
                  <a:schemeClr val="accent2">
                    <a:lumMod val="75000"/>
                  </a:schemeClr>
                </a:solidFill>
                <a:latin typeface="Bahnschrift Condensed" panose="020B0502040204020203" pitchFamily="34" charset="0"/>
              </a:rPr>
              <a:t>2.   Univariate Analysis</a:t>
            </a:r>
          </a:p>
          <a:p>
            <a:r>
              <a:rPr lang="en-US" sz="4400" dirty="0">
                <a:solidFill>
                  <a:schemeClr val="accent2">
                    <a:lumMod val="75000"/>
                  </a:schemeClr>
                </a:solidFill>
                <a:latin typeface="Bahnschrift Condensed" panose="020B0502040204020203" pitchFamily="34" charset="0"/>
              </a:rPr>
              <a:t>3.   Bivariate Analysis</a:t>
            </a:r>
          </a:p>
          <a:p>
            <a:r>
              <a:rPr lang="en-US" sz="4400" dirty="0">
                <a:solidFill>
                  <a:schemeClr val="accent2">
                    <a:lumMod val="75000"/>
                  </a:schemeClr>
                </a:solidFill>
                <a:latin typeface="Bahnschrift Condensed" panose="020B0502040204020203" pitchFamily="34" charset="0"/>
              </a:rPr>
              <a:t>4.   Multivariate Analysis</a:t>
            </a:r>
          </a:p>
          <a:p>
            <a:r>
              <a:rPr lang="en-US" sz="4400" dirty="0">
                <a:solidFill>
                  <a:schemeClr val="accent2">
                    <a:lumMod val="75000"/>
                  </a:schemeClr>
                </a:solidFill>
                <a:latin typeface="Bahnschrift Condensed" panose="020B0502040204020203" pitchFamily="34" charset="0"/>
              </a:rPr>
              <a:t>5.   Time Series Analysis</a:t>
            </a:r>
          </a:p>
          <a:p>
            <a:r>
              <a:rPr lang="en-US" sz="4400" dirty="0">
                <a:solidFill>
                  <a:schemeClr val="accent2">
                    <a:lumMod val="75000"/>
                  </a:schemeClr>
                </a:solidFill>
                <a:latin typeface="Bahnschrift Condensed" panose="020B0502040204020203" pitchFamily="34" charset="0"/>
              </a:rPr>
              <a:t>6.   Outlier Analysis</a:t>
            </a:r>
          </a:p>
        </p:txBody>
      </p:sp>
    </p:spTree>
    <p:extLst>
      <p:ext uri="{BB962C8B-B14F-4D97-AF65-F5344CB8AC3E}">
        <p14:creationId xmlns:p14="http://schemas.microsoft.com/office/powerpoint/2010/main" val="886860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C71907-3610-9EC3-D3D0-4E327E8EA4D2}"/>
              </a:ext>
            </a:extLst>
          </p:cNvPr>
          <p:cNvSpPr txBox="1"/>
          <p:nvPr/>
        </p:nvSpPr>
        <p:spPr>
          <a:xfrm>
            <a:off x="2428703" y="-73158"/>
            <a:ext cx="6096000" cy="646331"/>
          </a:xfrm>
          <a:prstGeom prst="rect">
            <a:avLst/>
          </a:prstGeom>
          <a:noFill/>
        </p:spPr>
        <p:txBody>
          <a:bodyPr wrap="square">
            <a:spAutoFit/>
          </a:bodyPr>
          <a:lstStyle/>
          <a:p>
            <a:r>
              <a:rPr lang="en-US" sz="3600" dirty="0">
                <a:solidFill>
                  <a:schemeClr val="accent6">
                    <a:lumMod val="75000"/>
                  </a:schemeClr>
                </a:solidFill>
                <a:latin typeface="Arial Black" panose="020B0A04020102020204" pitchFamily="34" charset="0"/>
              </a:rPr>
              <a:t>Data Descriptions </a:t>
            </a:r>
          </a:p>
        </p:txBody>
      </p:sp>
      <p:pic>
        <p:nvPicPr>
          <p:cNvPr id="8" name="Picture 7">
            <a:extLst>
              <a:ext uri="{FF2B5EF4-FFF2-40B4-BE49-F238E27FC236}">
                <a16:creationId xmlns:a16="http://schemas.microsoft.com/office/drawing/2014/main" id="{8DC303C6-8A93-13A6-E8F5-2B2E420D8407}"/>
              </a:ext>
            </a:extLst>
          </p:cNvPr>
          <p:cNvPicPr>
            <a:picLocks noChangeAspect="1"/>
          </p:cNvPicPr>
          <p:nvPr/>
        </p:nvPicPr>
        <p:blipFill>
          <a:blip r:embed="rId2"/>
          <a:stretch>
            <a:fillRect/>
          </a:stretch>
        </p:blipFill>
        <p:spPr>
          <a:xfrm>
            <a:off x="20056" y="729826"/>
            <a:ext cx="4551680" cy="3843978"/>
          </a:xfrm>
          <a:prstGeom prst="rect">
            <a:avLst/>
          </a:prstGeom>
        </p:spPr>
      </p:pic>
      <p:pic>
        <p:nvPicPr>
          <p:cNvPr id="10" name="Picture 9">
            <a:extLst>
              <a:ext uri="{FF2B5EF4-FFF2-40B4-BE49-F238E27FC236}">
                <a16:creationId xmlns:a16="http://schemas.microsoft.com/office/drawing/2014/main" id="{67F2C480-082E-20B9-C193-4638737300AE}"/>
              </a:ext>
            </a:extLst>
          </p:cNvPr>
          <p:cNvPicPr>
            <a:picLocks noChangeAspect="1"/>
          </p:cNvPicPr>
          <p:nvPr/>
        </p:nvPicPr>
        <p:blipFill>
          <a:blip r:embed="rId3"/>
          <a:stretch>
            <a:fillRect/>
          </a:stretch>
        </p:blipFill>
        <p:spPr>
          <a:xfrm>
            <a:off x="187036" y="4786515"/>
            <a:ext cx="5720080" cy="2052320"/>
          </a:xfrm>
          <a:prstGeom prst="rect">
            <a:avLst/>
          </a:prstGeom>
        </p:spPr>
      </p:pic>
      <p:pic>
        <p:nvPicPr>
          <p:cNvPr id="12" name="Picture 11">
            <a:extLst>
              <a:ext uri="{FF2B5EF4-FFF2-40B4-BE49-F238E27FC236}">
                <a16:creationId xmlns:a16="http://schemas.microsoft.com/office/drawing/2014/main" id="{0EACB107-FF83-ED72-5BAD-BF75246A2824}"/>
              </a:ext>
            </a:extLst>
          </p:cNvPr>
          <p:cNvPicPr>
            <a:picLocks noChangeAspect="1"/>
          </p:cNvPicPr>
          <p:nvPr/>
        </p:nvPicPr>
        <p:blipFill>
          <a:blip r:embed="rId4"/>
          <a:stretch>
            <a:fillRect/>
          </a:stretch>
        </p:blipFill>
        <p:spPr>
          <a:xfrm>
            <a:off x="9494515" y="558800"/>
            <a:ext cx="2612786" cy="4917090"/>
          </a:xfrm>
          <a:prstGeom prst="rect">
            <a:avLst/>
          </a:prstGeom>
        </p:spPr>
      </p:pic>
      <p:pic>
        <p:nvPicPr>
          <p:cNvPr id="14" name="Picture 13">
            <a:extLst>
              <a:ext uri="{FF2B5EF4-FFF2-40B4-BE49-F238E27FC236}">
                <a16:creationId xmlns:a16="http://schemas.microsoft.com/office/drawing/2014/main" id="{F715CA3F-05A1-84A7-34AD-62E981FAB1C8}"/>
              </a:ext>
            </a:extLst>
          </p:cNvPr>
          <p:cNvPicPr>
            <a:picLocks noChangeAspect="1"/>
          </p:cNvPicPr>
          <p:nvPr/>
        </p:nvPicPr>
        <p:blipFill>
          <a:blip r:embed="rId5"/>
          <a:stretch>
            <a:fillRect/>
          </a:stretch>
        </p:blipFill>
        <p:spPr>
          <a:xfrm>
            <a:off x="6387221" y="6037364"/>
            <a:ext cx="5720080" cy="781159"/>
          </a:xfrm>
          <a:prstGeom prst="rect">
            <a:avLst/>
          </a:prstGeom>
        </p:spPr>
      </p:pic>
      <p:pic>
        <p:nvPicPr>
          <p:cNvPr id="20" name="Picture 19">
            <a:extLst>
              <a:ext uri="{FF2B5EF4-FFF2-40B4-BE49-F238E27FC236}">
                <a16:creationId xmlns:a16="http://schemas.microsoft.com/office/drawing/2014/main" id="{3EE547FC-A6EC-24DC-3878-9BA4634F7204}"/>
              </a:ext>
            </a:extLst>
          </p:cNvPr>
          <p:cNvPicPr>
            <a:picLocks noChangeAspect="1"/>
          </p:cNvPicPr>
          <p:nvPr/>
        </p:nvPicPr>
        <p:blipFill>
          <a:blip r:embed="rId6"/>
          <a:stretch>
            <a:fillRect/>
          </a:stretch>
        </p:blipFill>
        <p:spPr>
          <a:xfrm>
            <a:off x="7305911" y="1993627"/>
            <a:ext cx="2067213" cy="3843978"/>
          </a:xfrm>
          <a:prstGeom prst="rect">
            <a:avLst/>
          </a:prstGeom>
        </p:spPr>
      </p:pic>
      <p:pic>
        <p:nvPicPr>
          <p:cNvPr id="22" name="Picture 21">
            <a:extLst>
              <a:ext uri="{FF2B5EF4-FFF2-40B4-BE49-F238E27FC236}">
                <a16:creationId xmlns:a16="http://schemas.microsoft.com/office/drawing/2014/main" id="{D8FD30AA-35CD-3E62-F6C7-1EF49B3AEA5C}"/>
              </a:ext>
            </a:extLst>
          </p:cNvPr>
          <p:cNvPicPr>
            <a:picLocks noChangeAspect="1"/>
          </p:cNvPicPr>
          <p:nvPr/>
        </p:nvPicPr>
        <p:blipFill>
          <a:blip r:embed="rId7"/>
          <a:stretch>
            <a:fillRect/>
          </a:stretch>
        </p:blipFill>
        <p:spPr>
          <a:xfrm>
            <a:off x="6978594" y="523874"/>
            <a:ext cx="2515921" cy="1409897"/>
          </a:xfrm>
          <a:prstGeom prst="rect">
            <a:avLst/>
          </a:prstGeom>
        </p:spPr>
      </p:pic>
      <p:pic>
        <p:nvPicPr>
          <p:cNvPr id="24" name="Picture 23">
            <a:extLst>
              <a:ext uri="{FF2B5EF4-FFF2-40B4-BE49-F238E27FC236}">
                <a16:creationId xmlns:a16="http://schemas.microsoft.com/office/drawing/2014/main" id="{7BDC1ED0-FA93-7928-7013-B4F072DD1A4B}"/>
              </a:ext>
            </a:extLst>
          </p:cNvPr>
          <p:cNvPicPr>
            <a:picLocks noChangeAspect="1"/>
          </p:cNvPicPr>
          <p:nvPr/>
        </p:nvPicPr>
        <p:blipFill>
          <a:blip r:embed="rId8"/>
          <a:stretch>
            <a:fillRect/>
          </a:stretch>
        </p:blipFill>
        <p:spPr>
          <a:xfrm>
            <a:off x="4744598" y="1778177"/>
            <a:ext cx="2336960" cy="2898589"/>
          </a:xfrm>
          <a:prstGeom prst="rect">
            <a:avLst/>
          </a:prstGeom>
        </p:spPr>
      </p:pic>
    </p:spTree>
    <p:extLst>
      <p:ext uri="{BB962C8B-B14F-4D97-AF65-F5344CB8AC3E}">
        <p14:creationId xmlns:p14="http://schemas.microsoft.com/office/powerpoint/2010/main" val="1209983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E09E81-D703-BD24-5AD4-D1A22BD2F7E8}"/>
              </a:ext>
            </a:extLst>
          </p:cNvPr>
          <p:cNvPicPr>
            <a:picLocks noChangeAspect="1"/>
          </p:cNvPicPr>
          <p:nvPr/>
        </p:nvPicPr>
        <p:blipFill>
          <a:blip r:embed="rId2"/>
          <a:stretch>
            <a:fillRect/>
          </a:stretch>
        </p:blipFill>
        <p:spPr>
          <a:xfrm>
            <a:off x="254850" y="4270287"/>
            <a:ext cx="9767455" cy="2587713"/>
          </a:xfrm>
          <a:prstGeom prst="rect">
            <a:avLst/>
          </a:prstGeom>
        </p:spPr>
      </p:pic>
      <p:pic>
        <p:nvPicPr>
          <p:cNvPr id="5" name="Picture 4">
            <a:extLst>
              <a:ext uri="{FF2B5EF4-FFF2-40B4-BE49-F238E27FC236}">
                <a16:creationId xmlns:a16="http://schemas.microsoft.com/office/drawing/2014/main" id="{A6ECE669-D9A6-19EA-A60E-33A63B3F3B8F}"/>
              </a:ext>
            </a:extLst>
          </p:cNvPr>
          <p:cNvPicPr>
            <a:picLocks noChangeAspect="1"/>
          </p:cNvPicPr>
          <p:nvPr/>
        </p:nvPicPr>
        <p:blipFill>
          <a:blip r:embed="rId3"/>
          <a:stretch>
            <a:fillRect/>
          </a:stretch>
        </p:blipFill>
        <p:spPr>
          <a:xfrm>
            <a:off x="195610" y="722154"/>
            <a:ext cx="6402617" cy="3448285"/>
          </a:xfrm>
          <a:prstGeom prst="rect">
            <a:avLst/>
          </a:prstGeom>
        </p:spPr>
      </p:pic>
      <p:pic>
        <p:nvPicPr>
          <p:cNvPr id="7" name="Picture 6">
            <a:extLst>
              <a:ext uri="{FF2B5EF4-FFF2-40B4-BE49-F238E27FC236}">
                <a16:creationId xmlns:a16="http://schemas.microsoft.com/office/drawing/2014/main" id="{7A488B72-9CE5-8371-328F-A17984E3757B}"/>
              </a:ext>
            </a:extLst>
          </p:cNvPr>
          <p:cNvPicPr>
            <a:picLocks noChangeAspect="1"/>
          </p:cNvPicPr>
          <p:nvPr/>
        </p:nvPicPr>
        <p:blipFill>
          <a:blip r:embed="rId4"/>
          <a:stretch>
            <a:fillRect/>
          </a:stretch>
        </p:blipFill>
        <p:spPr>
          <a:xfrm>
            <a:off x="6734579" y="722154"/>
            <a:ext cx="5261811" cy="2943361"/>
          </a:xfrm>
          <a:prstGeom prst="rect">
            <a:avLst/>
          </a:prstGeom>
        </p:spPr>
      </p:pic>
    </p:spTree>
    <p:extLst>
      <p:ext uri="{BB962C8B-B14F-4D97-AF65-F5344CB8AC3E}">
        <p14:creationId xmlns:p14="http://schemas.microsoft.com/office/powerpoint/2010/main" val="41899793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FFCF90-CDE3-F511-95B5-71FF35BFFF52}"/>
              </a:ext>
            </a:extLst>
          </p:cNvPr>
          <p:cNvPicPr>
            <a:picLocks noChangeAspect="1"/>
          </p:cNvPicPr>
          <p:nvPr/>
        </p:nvPicPr>
        <p:blipFill>
          <a:blip r:embed="rId2"/>
          <a:stretch>
            <a:fillRect/>
          </a:stretch>
        </p:blipFill>
        <p:spPr>
          <a:xfrm>
            <a:off x="4864409" y="2261473"/>
            <a:ext cx="7175191" cy="3302000"/>
          </a:xfrm>
          <a:prstGeom prst="rect">
            <a:avLst/>
          </a:prstGeom>
        </p:spPr>
      </p:pic>
      <p:sp>
        <p:nvSpPr>
          <p:cNvPr id="5" name="TextBox 4">
            <a:extLst>
              <a:ext uri="{FF2B5EF4-FFF2-40B4-BE49-F238E27FC236}">
                <a16:creationId xmlns:a16="http://schemas.microsoft.com/office/drawing/2014/main" id="{C5B6F666-04B8-1520-F269-D80576398B44}"/>
              </a:ext>
            </a:extLst>
          </p:cNvPr>
          <p:cNvSpPr txBox="1"/>
          <p:nvPr/>
        </p:nvSpPr>
        <p:spPr>
          <a:xfrm>
            <a:off x="426720" y="938034"/>
            <a:ext cx="4541520" cy="1323439"/>
          </a:xfrm>
          <a:prstGeom prst="rect">
            <a:avLst/>
          </a:prstGeom>
          <a:noFill/>
        </p:spPr>
        <p:txBody>
          <a:bodyPr wrap="square">
            <a:spAutoFit/>
          </a:bodyPr>
          <a:lstStyle/>
          <a:p>
            <a:r>
              <a:rPr lang="en-US" sz="4000" dirty="0">
                <a:solidFill>
                  <a:schemeClr val="accent6">
                    <a:lumMod val="50000"/>
                  </a:schemeClr>
                </a:solidFill>
                <a:latin typeface="Arial Black" panose="020B0A04020102020204" pitchFamily="34" charset="0"/>
              </a:rPr>
              <a:t>Data Classification</a:t>
            </a:r>
          </a:p>
        </p:txBody>
      </p:sp>
      <p:sp>
        <p:nvSpPr>
          <p:cNvPr id="7" name="TextBox 6">
            <a:extLst>
              <a:ext uri="{FF2B5EF4-FFF2-40B4-BE49-F238E27FC236}">
                <a16:creationId xmlns:a16="http://schemas.microsoft.com/office/drawing/2014/main" id="{61B15272-59B5-B9F9-B8B0-E8A17E1BEF5A}"/>
              </a:ext>
            </a:extLst>
          </p:cNvPr>
          <p:cNvSpPr txBox="1"/>
          <p:nvPr/>
        </p:nvSpPr>
        <p:spPr>
          <a:xfrm>
            <a:off x="223520" y="2513876"/>
            <a:ext cx="4389120" cy="1477328"/>
          </a:xfrm>
          <a:prstGeom prst="rect">
            <a:avLst/>
          </a:prstGeom>
          <a:noFill/>
        </p:spPr>
        <p:txBody>
          <a:bodyPr wrap="square">
            <a:spAutoFit/>
          </a:bodyPr>
          <a:lstStyle/>
          <a:p>
            <a:pPr>
              <a:buNone/>
            </a:pPr>
            <a:r>
              <a:rPr lang="en-US" b="1" dirty="0"/>
              <a:t>1️⃣ Numerical Variables</a:t>
            </a:r>
          </a:p>
          <a:p>
            <a:pPr>
              <a:buNone/>
            </a:pPr>
            <a:r>
              <a:rPr lang="en-US" dirty="0"/>
              <a:t>These are </a:t>
            </a:r>
            <a:r>
              <a:rPr lang="en-US" i="1" dirty="0"/>
              <a:t>quantitative</a:t>
            </a:r>
            <a:r>
              <a:rPr lang="en-US" dirty="0"/>
              <a:t> features that contain measurable, continuous, or integer values. They are used for statistical analysis and modeling.</a:t>
            </a:r>
          </a:p>
        </p:txBody>
      </p:sp>
      <p:sp>
        <p:nvSpPr>
          <p:cNvPr id="9" name="TextBox 8">
            <a:extLst>
              <a:ext uri="{FF2B5EF4-FFF2-40B4-BE49-F238E27FC236}">
                <a16:creationId xmlns:a16="http://schemas.microsoft.com/office/drawing/2014/main" id="{CF7D7F03-5355-713A-ED7E-4B08B7E95BFB}"/>
              </a:ext>
            </a:extLst>
          </p:cNvPr>
          <p:cNvSpPr txBox="1"/>
          <p:nvPr/>
        </p:nvSpPr>
        <p:spPr>
          <a:xfrm>
            <a:off x="223520" y="4410054"/>
            <a:ext cx="4165600" cy="1200329"/>
          </a:xfrm>
          <a:prstGeom prst="rect">
            <a:avLst/>
          </a:prstGeom>
          <a:noFill/>
        </p:spPr>
        <p:txBody>
          <a:bodyPr wrap="square">
            <a:spAutoFit/>
          </a:bodyPr>
          <a:lstStyle/>
          <a:p>
            <a:pPr>
              <a:buNone/>
            </a:pPr>
            <a:r>
              <a:rPr lang="en-US" b="1" dirty="0"/>
              <a:t>2️⃣ Categorical Variables</a:t>
            </a:r>
          </a:p>
          <a:p>
            <a:pPr>
              <a:buNone/>
            </a:pPr>
            <a:r>
              <a:rPr lang="en-US" dirty="0"/>
              <a:t>These are </a:t>
            </a:r>
            <a:r>
              <a:rPr lang="en-US" i="1" dirty="0"/>
              <a:t>qualitative</a:t>
            </a:r>
            <a:r>
              <a:rPr lang="en-US" dirty="0"/>
              <a:t> features representing labels, categories, or names. They cannot be measured numerically.</a:t>
            </a:r>
          </a:p>
        </p:txBody>
      </p:sp>
    </p:spTree>
    <p:extLst>
      <p:ext uri="{BB962C8B-B14F-4D97-AF65-F5344CB8AC3E}">
        <p14:creationId xmlns:p14="http://schemas.microsoft.com/office/powerpoint/2010/main" val="3303967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xmlns:aink="http://schemas.microsoft.com/office/drawing/2016/ink" Requires="p14 aink">
          <p:contentPart p14:bwMode="auto" r:id="rId2">
            <p14:nvContentPartPr>
              <p14:cNvPr id="2" name="Ink 1">
                <a:extLst>
                  <a:ext uri="{FF2B5EF4-FFF2-40B4-BE49-F238E27FC236}">
                    <a16:creationId xmlns:a16="http://schemas.microsoft.com/office/drawing/2014/main" id="{C30CA723-ADD9-0916-3256-1620A90C814A}"/>
                  </a:ext>
                </a:extLst>
              </p14:cNvPr>
              <p14:cNvContentPartPr/>
              <p14:nvPr/>
            </p14:nvContentPartPr>
            <p14:xfrm>
              <a:off x="5935371" y="3048057"/>
              <a:ext cx="360" cy="360"/>
            </p14:xfrm>
          </p:contentPart>
        </mc:Choice>
        <mc:Fallback>
          <p:pic>
            <p:nvPicPr>
              <p:cNvPr id="2" name="Ink 1">
                <a:extLst>
                  <a:ext uri="{FF2B5EF4-FFF2-40B4-BE49-F238E27FC236}">
                    <a16:creationId xmlns:a16="http://schemas.microsoft.com/office/drawing/2014/main" id="{C30CA723-ADD9-0916-3256-1620A90C814A}"/>
                  </a:ext>
                </a:extLst>
              </p:cNvPr>
              <p:cNvPicPr/>
              <p:nvPr/>
            </p:nvPicPr>
            <p:blipFill>
              <a:blip r:embed="rId3"/>
              <a:stretch>
                <a:fillRect/>
              </a:stretch>
            </p:blipFill>
            <p:spPr>
              <a:xfrm>
                <a:off x="5926731" y="2994417"/>
                <a:ext cx="18000" cy="108000"/>
              </a:xfrm>
              <a:prstGeom prst="rect">
                <a:avLst/>
              </a:prstGeom>
            </p:spPr>
          </p:pic>
        </mc:Fallback>
      </mc:AlternateContent>
      <p:sp>
        <p:nvSpPr>
          <p:cNvPr id="4" name="TextBox 3">
            <a:extLst>
              <a:ext uri="{FF2B5EF4-FFF2-40B4-BE49-F238E27FC236}">
                <a16:creationId xmlns:a16="http://schemas.microsoft.com/office/drawing/2014/main" id="{7D123CBC-55D9-3195-B7B4-03F718B98202}"/>
              </a:ext>
            </a:extLst>
          </p:cNvPr>
          <p:cNvSpPr txBox="1"/>
          <p:nvPr/>
        </p:nvSpPr>
        <p:spPr>
          <a:xfrm>
            <a:off x="712489" y="1418627"/>
            <a:ext cx="5903135" cy="1446550"/>
          </a:xfrm>
          <a:prstGeom prst="rect">
            <a:avLst/>
          </a:prstGeom>
          <a:noFill/>
        </p:spPr>
        <p:txBody>
          <a:bodyPr wrap="square">
            <a:spAutoFit/>
          </a:bodyPr>
          <a:lstStyle/>
          <a:p>
            <a:r>
              <a:rPr lang="en-US" sz="4400" dirty="0">
                <a:solidFill>
                  <a:schemeClr val="accent1">
                    <a:lumMod val="75000"/>
                  </a:schemeClr>
                </a:solidFill>
                <a:latin typeface="Arial Black" panose="020B0A04020102020204" pitchFamily="34" charset="0"/>
              </a:rPr>
              <a:t>What is Univariate Analysis ?</a:t>
            </a:r>
          </a:p>
        </p:txBody>
      </p:sp>
      <p:sp>
        <p:nvSpPr>
          <p:cNvPr id="6" name="TextBox 5">
            <a:extLst>
              <a:ext uri="{FF2B5EF4-FFF2-40B4-BE49-F238E27FC236}">
                <a16:creationId xmlns:a16="http://schemas.microsoft.com/office/drawing/2014/main" id="{7B5271E1-3AD2-5AB4-9692-5D255CBC7F66}"/>
              </a:ext>
            </a:extLst>
          </p:cNvPr>
          <p:cNvSpPr txBox="1"/>
          <p:nvPr/>
        </p:nvSpPr>
        <p:spPr>
          <a:xfrm>
            <a:off x="712489" y="2976937"/>
            <a:ext cx="4203212" cy="3046988"/>
          </a:xfrm>
          <a:prstGeom prst="rect">
            <a:avLst/>
          </a:prstGeom>
          <a:noFill/>
        </p:spPr>
        <p:txBody>
          <a:bodyPr wrap="square">
            <a:spAutoFit/>
          </a:bodyPr>
          <a:lstStyle/>
          <a:p>
            <a:r>
              <a:rPr lang="en-US" sz="2400" dirty="0">
                <a:latin typeface="Aptos Narrow" panose="020B0004020202020204" pitchFamily="34" charset="0"/>
              </a:rPr>
              <a:t>Univariate analysis is a statistical technique that examines and analyzes one variable at a time. It focuses on understanding the variable’s distribution, central tendency, spread, and outliers to identify patterns and summarize its behavior</a:t>
            </a:r>
            <a:r>
              <a:rPr lang="en-US" dirty="0"/>
              <a:t>.</a:t>
            </a:r>
          </a:p>
        </p:txBody>
      </p:sp>
      <p:pic>
        <p:nvPicPr>
          <p:cNvPr id="11" name="Picture 10">
            <a:extLst>
              <a:ext uri="{FF2B5EF4-FFF2-40B4-BE49-F238E27FC236}">
                <a16:creationId xmlns:a16="http://schemas.microsoft.com/office/drawing/2014/main" id="{D56228F5-7DEF-C52A-4AF0-D14F5C7BD093}"/>
              </a:ext>
            </a:extLst>
          </p:cNvPr>
          <p:cNvPicPr>
            <a:picLocks noChangeAspect="1"/>
          </p:cNvPicPr>
          <p:nvPr/>
        </p:nvPicPr>
        <p:blipFill>
          <a:blip r:embed="rId4"/>
          <a:stretch>
            <a:fillRect/>
          </a:stretch>
        </p:blipFill>
        <p:spPr>
          <a:xfrm>
            <a:off x="6615624" y="1641305"/>
            <a:ext cx="5466429" cy="4181619"/>
          </a:xfrm>
          <a:prstGeom prst="rect">
            <a:avLst/>
          </a:prstGeom>
        </p:spPr>
      </p:pic>
    </p:spTree>
    <p:extLst>
      <p:ext uri="{BB962C8B-B14F-4D97-AF65-F5344CB8AC3E}">
        <p14:creationId xmlns:p14="http://schemas.microsoft.com/office/powerpoint/2010/main" val="2161945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ADA36A-ACB8-48A0-3183-90B4251EB9A9}"/>
              </a:ext>
            </a:extLst>
          </p:cNvPr>
          <p:cNvSpPr txBox="1"/>
          <p:nvPr/>
        </p:nvSpPr>
        <p:spPr>
          <a:xfrm>
            <a:off x="2739329" y="0"/>
            <a:ext cx="7620000" cy="769441"/>
          </a:xfrm>
          <a:prstGeom prst="rect">
            <a:avLst/>
          </a:prstGeom>
          <a:noFill/>
        </p:spPr>
        <p:txBody>
          <a:bodyPr wrap="square">
            <a:spAutoFit/>
          </a:bodyPr>
          <a:lstStyle/>
          <a:p>
            <a:r>
              <a:rPr lang="en-US" sz="4400" dirty="0">
                <a:solidFill>
                  <a:schemeClr val="accent2">
                    <a:lumMod val="50000"/>
                  </a:schemeClr>
                </a:solidFill>
                <a:latin typeface="Arial Black" panose="020B0A04020102020204" pitchFamily="34" charset="0"/>
              </a:rPr>
              <a:t>Univariate Analysis</a:t>
            </a:r>
          </a:p>
        </p:txBody>
      </p:sp>
      <p:sp>
        <p:nvSpPr>
          <p:cNvPr id="8" name="TextBox 7">
            <a:extLst>
              <a:ext uri="{FF2B5EF4-FFF2-40B4-BE49-F238E27FC236}">
                <a16:creationId xmlns:a16="http://schemas.microsoft.com/office/drawing/2014/main" id="{60BBEEB2-5656-4B18-1848-C51F6FC8432F}"/>
              </a:ext>
            </a:extLst>
          </p:cNvPr>
          <p:cNvSpPr txBox="1"/>
          <p:nvPr/>
        </p:nvSpPr>
        <p:spPr>
          <a:xfrm>
            <a:off x="0" y="1368131"/>
            <a:ext cx="9176084" cy="300916"/>
          </a:xfrm>
          <a:prstGeom prst="rect">
            <a:avLst/>
          </a:prstGeom>
          <a:noFill/>
        </p:spPr>
        <p:txBody>
          <a:bodyPr wrap="square">
            <a:spAutoFit/>
          </a:bodyPr>
          <a:lstStyle/>
          <a:p>
            <a:pPr>
              <a:lnSpc>
                <a:spcPts val="1425"/>
              </a:lnSpc>
              <a:buNone/>
            </a:pPr>
            <a:r>
              <a:rPr lang="en-US" sz="2800" dirty="0">
                <a:latin typeface="Bahnschrift SemiBold SemiConden" panose="020B0502040204020203" pitchFamily="34" charset="0"/>
              </a:rPr>
              <a:t>A</a:t>
            </a:r>
            <a:r>
              <a:rPr lang="en-US" sz="2800" b="0" dirty="0">
                <a:effectLst/>
                <a:latin typeface="Bahnschrift SemiBold SemiConden" panose="020B0502040204020203" pitchFamily="34" charset="0"/>
              </a:rPr>
              <a:t>)  STATISTICAL ANALYSIS OF NUMERICAL VARIABLES</a:t>
            </a:r>
          </a:p>
        </p:txBody>
      </p:sp>
      <p:pic>
        <p:nvPicPr>
          <p:cNvPr id="12" name="Picture 11">
            <a:extLst>
              <a:ext uri="{FF2B5EF4-FFF2-40B4-BE49-F238E27FC236}">
                <a16:creationId xmlns:a16="http://schemas.microsoft.com/office/drawing/2014/main" id="{78D8784F-15C4-054F-B24E-5C89A61ACF4F}"/>
              </a:ext>
            </a:extLst>
          </p:cNvPr>
          <p:cNvPicPr>
            <a:picLocks noChangeAspect="1"/>
          </p:cNvPicPr>
          <p:nvPr/>
        </p:nvPicPr>
        <p:blipFill>
          <a:blip r:embed="rId2"/>
          <a:stretch>
            <a:fillRect/>
          </a:stretch>
        </p:blipFill>
        <p:spPr>
          <a:xfrm>
            <a:off x="275344" y="1669047"/>
            <a:ext cx="2724530" cy="2133898"/>
          </a:xfrm>
          <a:prstGeom prst="rect">
            <a:avLst/>
          </a:prstGeom>
        </p:spPr>
      </p:pic>
      <p:pic>
        <p:nvPicPr>
          <p:cNvPr id="14" name="Picture 13">
            <a:extLst>
              <a:ext uri="{FF2B5EF4-FFF2-40B4-BE49-F238E27FC236}">
                <a16:creationId xmlns:a16="http://schemas.microsoft.com/office/drawing/2014/main" id="{7D89E8BD-DE30-67A2-5850-D0E2853E8B25}"/>
              </a:ext>
            </a:extLst>
          </p:cNvPr>
          <p:cNvPicPr>
            <a:picLocks noChangeAspect="1"/>
          </p:cNvPicPr>
          <p:nvPr/>
        </p:nvPicPr>
        <p:blipFill>
          <a:blip r:embed="rId3"/>
          <a:stretch>
            <a:fillRect/>
          </a:stretch>
        </p:blipFill>
        <p:spPr>
          <a:xfrm>
            <a:off x="141471" y="3930315"/>
            <a:ext cx="2953162" cy="2914865"/>
          </a:xfrm>
          <a:prstGeom prst="rect">
            <a:avLst/>
          </a:prstGeom>
        </p:spPr>
      </p:pic>
      <p:pic>
        <p:nvPicPr>
          <p:cNvPr id="16" name="Picture 15">
            <a:extLst>
              <a:ext uri="{FF2B5EF4-FFF2-40B4-BE49-F238E27FC236}">
                <a16:creationId xmlns:a16="http://schemas.microsoft.com/office/drawing/2014/main" id="{5DB8EBC3-8423-1C8A-39A2-11D4ABB6F8F2}"/>
              </a:ext>
            </a:extLst>
          </p:cNvPr>
          <p:cNvPicPr>
            <a:picLocks noChangeAspect="1"/>
          </p:cNvPicPr>
          <p:nvPr/>
        </p:nvPicPr>
        <p:blipFill>
          <a:blip r:embed="rId4"/>
          <a:stretch>
            <a:fillRect/>
          </a:stretch>
        </p:blipFill>
        <p:spPr>
          <a:xfrm>
            <a:off x="5573267" y="1669047"/>
            <a:ext cx="6343389" cy="2729355"/>
          </a:xfrm>
          <a:prstGeom prst="rect">
            <a:avLst/>
          </a:prstGeom>
        </p:spPr>
      </p:pic>
      <p:pic>
        <p:nvPicPr>
          <p:cNvPr id="18" name="Picture 17">
            <a:extLst>
              <a:ext uri="{FF2B5EF4-FFF2-40B4-BE49-F238E27FC236}">
                <a16:creationId xmlns:a16="http://schemas.microsoft.com/office/drawing/2014/main" id="{8EA74400-D7AD-8ADC-DD0B-E40754FA4496}"/>
              </a:ext>
            </a:extLst>
          </p:cNvPr>
          <p:cNvPicPr>
            <a:picLocks noChangeAspect="1"/>
          </p:cNvPicPr>
          <p:nvPr/>
        </p:nvPicPr>
        <p:blipFill>
          <a:blip r:embed="rId5"/>
          <a:stretch>
            <a:fillRect/>
          </a:stretch>
        </p:blipFill>
        <p:spPr>
          <a:xfrm>
            <a:off x="4656673" y="4508738"/>
            <a:ext cx="7535327" cy="2336443"/>
          </a:xfrm>
          <a:prstGeom prst="rect">
            <a:avLst/>
          </a:prstGeom>
        </p:spPr>
      </p:pic>
    </p:spTree>
    <p:extLst>
      <p:ext uri="{BB962C8B-B14F-4D97-AF65-F5344CB8AC3E}">
        <p14:creationId xmlns:p14="http://schemas.microsoft.com/office/powerpoint/2010/main" val="2158882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252A1B3-1BA9-A283-D5E4-3382AF3D1C01}"/>
              </a:ext>
            </a:extLst>
          </p:cNvPr>
          <p:cNvPicPr>
            <a:picLocks noChangeAspect="1"/>
          </p:cNvPicPr>
          <p:nvPr/>
        </p:nvPicPr>
        <p:blipFill>
          <a:blip r:embed="rId2"/>
          <a:stretch>
            <a:fillRect/>
          </a:stretch>
        </p:blipFill>
        <p:spPr>
          <a:xfrm>
            <a:off x="164220" y="704908"/>
            <a:ext cx="4760705" cy="3225408"/>
          </a:xfrm>
          <a:prstGeom prst="rect">
            <a:avLst/>
          </a:prstGeom>
        </p:spPr>
      </p:pic>
      <p:sp>
        <p:nvSpPr>
          <p:cNvPr id="7" name="TextBox 6">
            <a:extLst>
              <a:ext uri="{FF2B5EF4-FFF2-40B4-BE49-F238E27FC236}">
                <a16:creationId xmlns:a16="http://schemas.microsoft.com/office/drawing/2014/main" id="{4D7865BE-6342-C40D-47EC-D92E27B61720}"/>
              </a:ext>
            </a:extLst>
          </p:cNvPr>
          <p:cNvSpPr txBox="1"/>
          <p:nvPr/>
        </p:nvSpPr>
        <p:spPr>
          <a:xfrm>
            <a:off x="4219074" y="120133"/>
            <a:ext cx="6096000" cy="584775"/>
          </a:xfrm>
          <a:prstGeom prst="rect">
            <a:avLst/>
          </a:prstGeom>
          <a:noFill/>
        </p:spPr>
        <p:txBody>
          <a:bodyPr wrap="square">
            <a:spAutoFit/>
          </a:bodyPr>
          <a:lstStyle/>
          <a:p>
            <a:r>
              <a:rPr lang="en-US" sz="3200" dirty="0">
                <a:solidFill>
                  <a:schemeClr val="accent2">
                    <a:lumMod val="50000"/>
                  </a:schemeClr>
                </a:solidFill>
                <a:latin typeface="Arial Black" panose="020B0A04020102020204" pitchFamily="34" charset="0"/>
              </a:rPr>
              <a:t>Univariate Analysis</a:t>
            </a:r>
          </a:p>
        </p:txBody>
      </p:sp>
      <p:sp>
        <p:nvSpPr>
          <p:cNvPr id="9" name="TextBox 8">
            <a:extLst>
              <a:ext uri="{FF2B5EF4-FFF2-40B4-BE49-F238E27FC236}">
                <a16:creationId xmlns:a16="http://schemas.microsoft.com/office/drawing/2014/main" id="{068C0784-3AFF-817C-E1AF-A326F4534873}"/>
              </a:ext>
            </a:extLst>
          </p:cNvPr>
          <p:cNvSpPr txBox="1"/>
          <p:nvPr/>
        </p:nvSpPr>
        <p:spPr>
          <a:xfrm>
            <a:off x="5952348" y="1010751"/>
            <a:ext cx="6096000" cy="2246769"/>
          </a:xfrm>
          <a:prstGeom prst="rect">
            <a:avLst/>
          </a:prstGeom>
          <a:noFill/>
        </p:spPr>
        <p:txBody>
          <a:bodyPr wrap="square">
            <a:spAutoFit/>
          </a:bodyPr>
          <a:lstStyle/>
          <a:p>
            <a:r>
              <a:rPr lang="en-US" sz="2000" b="1" dirty="0"/>
              <a:t>The popularity distribution is heavily right-skewed, showing that most Spotify tracks have low engagement, while only a few achieve high popularity. This highlights the competitive and unequal nature of the streaming ecosystem and provides important context for deeper analysis, modeling, or prediction tasks.</a:t>
            </a:r>
          </a:p>
        </p:txBody>
      </p:sp>
      <p:pic>
        <p:nvPicPr>
          <p:cNvPr id="11" name="Picture 10">
            <a:extLst>
              <a:ext uri="{FF2B5EF4-FFF2-40B4-BE49-F238E27FC236}">
                <a16:creationId xmlns:a16="http://schemas.microsoft.com/office/drawing/2014/main" id="{000631CD-C348-B377-8958-08C8C77BA038}"/>
              </a:ext>
            </a:extLst>
          </p:cNvPr>
          <p:cNvPicPr>
            <a:picLocks noChangeAspect="1"/>
          </p:cNvPicPr>
          <p:nvPr/>
        </p:nvPicPr>
        <p:blipFill>
          <a:blip r:embed="rId3"/>
          <a:stretch>
            <a:fillRect/>
          </a:stretch>
        </p:blipFill>
        <p:spPr>
          <a:xfrm>
            <a:off x="6390643" y="3626051"/>
            <a:ext cx="5219411" cy="2983832"/>
          </a:xfrm>
          <a:prstGeom prst="rect">
            <a:avLst/>
          </a:prstGeom>
        </p:spPr>
      </p:pic>
      <p:sp>
        <p:nvSpPr>
          <p:cNvPr id="13" name="TextBox 12">
            <a:extLst>
              <a:ext uri="{FF2B5EF4-FFF2-40B4-BE49-F238E27FC236}">
                <a16:creationId xmlns:a16="http://schemas.microsoft.com/office/drawing/2014/main" id="{58BD9143-E5F0-BC3A-B33B-8AC00572106E}"/>
              </a:ext>
            </a:extLst>
          </p:cNvPr>
          <p:cNvSpPr txBox="1"/>
          <p:nvPr/>
        </p:nvSpPr>
        <p:spPr>
          <a:xfrm>
            <a:off x="164220" y="4502232"/>
            <a:ext cx="5637139" cy="1477328"/>
          </a:xfrm>
          <a:prstGeom prst="rect">
            <a:avLst/>
          </a:prstGeom>
          <a:noFill/>
        </p:spPr>
        <p:txBody>
          <a:bodyPr wrap="square">
            <a:spAutoFit/>
          </a:bodyPr>
          <a:lstStyle/>
          <a:p>
            <a:r>
              <a:rPr lang="en-US" b="1" dirty="0"/>
              <a:t>The </a:t>
            </a:r>
            <a:r>
              <a:rPr lang="en-US" b="1" dirty="0" err="1"/>
              <a:t>duration_ms</a:t>
            </a:r>
            <a:r>
              <a:rPr lang="en-US" b="1" dirty="0"/>
              <a:t> distribution shows a typical 2–5 minute song length for most tracks, but with a heavy right-skewed tail caused by unusually long audio tracks such as mixes, podcasts, or metadata noise—highlighting the need for outlier handling in further analysis.</a:t>
            </a:r>
          </a:p>
        </p:txBody>
      </p:sp>
      <p:cxnSp>
        <p:nvCxnSpPr>
          <p:cNvPr id="26" name="Straight Connector 25">
            <a:extLst>
              <a:ext uri="{FF2B5EF4-FFF2-40B4-BE49-F238E27FC236}">
                <a16:creationId xmlns:a16="http://schemas.microsoft.com/office/drawing/2014/main" id="{1089D82A-82CE-0401-DF26-CF1E0F5065D1}"/>
              </a:ext>
            </a:extLst>
          </p:cNvPr>
          <p:cNvCxnSpPr/>
          <p:nvPr/>
        </p:nvCxnSpPr>
        <p:spPr>
          <a:xfrm>
            <a:off x="5839735" y="1010751"/>
            <a:ext cx="0" cy="2379080"/>
          </a:xfrm>
          <a:prstGeom prst="line">
            <a:avLst/>
          </a:prstGeom>
        </p:spPr>
        <p:style>
          <a:lnRef idx="3">
            <a:schemeClr val="dk1"/>
          </a:lnRef>
          <a:fillRef idx="0">
            <a:schemeClr val="dk1"/>
          </a:fillRef>
          <a:effectRef idx="2">
            <a:schemeClr val="dk1"/>
          </a:effectRef>
          <a:fontRef idx="minor">
            <a:schemeClr val="tx1"/>
          </a:fontRef>
        </p:style>
      </p:cxnSp>
      <p:cxnSp>
        <p:nvCxnSpPr>
          <p:cNvPr id="28" name="Straight Connector 27">
            <a:extLst>
              <a:ext uri="{FF2B5EF4-FFF2-40B4-BE49-F238E27FC236}">
                <a16:creationId xmlns:a16="http://schemas.microsoft.com/office/drawing/2014/main" id="{B23ACDF4-7B0D-C4B2-17D9-FA4E9CF742A5}"/>
              </a:ext>
            </a:extLst>
          </p:cNvPr>
          <p:cNvCxnSpPr/>
          <p:nvPr/>
        </p:nvCxnSpPr>
        <p:spPr>
          <a:xfrm>
            <a:off x="5839735" y="1010751"/>
            <a:ext cx="6208613" cy="0"/>
          </a:xfrm>
          <a:prstGeom prst="line">
            <a:avLst/>
          </a:prstGeom>
        </p:spPr>
        <p:style>
          <a:lnRef idx="3">
            <a:schemeClr val="dk1"/>
          </a:lnRef>
          <a:fillRef idx="0">
            <a:schemeClr val="dk1"/>
          </a:fillRef>
          <a:effectRef idx="2">
            <a:schemeClr val="dk1"/>
          </a:effectRef>
          <a:fontRef idx="minor">
            <a:schemeClr val="tx1"/>
          </a:fontRef>
        </p:style>
      </p:cxnSp>
      <p:cxnSp>
        <p:nvCxnSpPr>
          <p:cNvPr id="32" name="Straight Connector 31">
            <a:extLst>
              <a:ext uri="{FF2B5EF4-FFF2-40B4-BE49-F238E27FC236}">
                <a16:creationId xmlns:a16="http://schemas.microsoft.com/office/drawing/2014/main" id="{1984EA31-BBD4-B038-7674-F03BA84388F9}"/>
              </a:ext>
            </a:extLst>
          </p:cNvPr>
          <p:cNvCxnSpPr/>
          <p:nvPr/>
        </p:nvCxnSpPr>
        <p:spPr>
          <a:xfrm>
            <a:off x="5839735" y="3389831"/>
            <a:ext cx="6208613" cy="0"/>
          </a:xfrm>
          <a:prstGeom prst="line">
            <a:avLst/>
          </a:prstGeom>
        </p:spPr>
        <p:style>
          <a:lnRef idx="3">
            <a:schemeClr val="dk1"/>
          </a:lnRef>
          <a:fillRef idx="0">
            <a:schemeClr val="dk1"/>
          </a:fillRef>
          <a:effectRef idx="2">
            <a:schemeClr val="dk1"/>
          </a:effectRef>
          <a:fontRef idx="minor">
            <a:schemeClr val="tx1"/>
          </a:fontRef>
        </p:style>
      </p:cxnSp>
      <p:cxnSp>
        <p:nvCxnSpPr>
          <p:cNvPr id="34" name="Straight Connector 33">
            <a:extLst>
              <a:ext uri="{FF2B5EF4-FFF2-40B4-BE49-F238E27FC236}">
                <a16:creationId xmlns:a16="http://schemas.microsoft.com/office/drawing/2014/main" id="{8160BB8C-3F0C-9631-DCE7-4B7F5B59AA34}"/>
              </a:ext>
            </a:extLst>
          </p:cNvPr>
          <p:cNvCxnSpPr/>
          <p:nvPr/>
        </p:nvCxnSpPr>
        <p:spPr>
          <a:xfrm>
            <a:off x="12048348" y="1010751"/>
            <a:ext cx="0" cy="2418249"/>
          </a:xfrm>
          <a:prstGeom prst="line">
            <a:avLst/>
          </a:prstGeom>
        </p:spPr>
        <p:style>
          <a:lnRef idx="3">
            <a:schemeClr val="dk1"/>
          </a:lnRef>
          <a:fillRef idx="0">
            <a:schemeClr val="dk1"/>
          </a:fillRef>
          <a:effectRef idx="2">
            <a:schemeClr val="dk1"/>
          </a:effectRef>
          <a:fontRef idx="minor">
            <a:schemeClr val="tx1"/>
          </a:fontRef>
        </p:style>
      </p:cxnSp>
      <p:cxnSp>
        <p:nvCxnSpPr>
          <p:cNvPr id="36" name="Straight Arrow Connector 35">
            <a:extLst>
              <a:ext uri="{FF2B5EF4-FFF2-40B4-BE49-F238E27FC236}">
                <a16:creationId xmlns:a16="http://schemas.microsoft.com/office/drawing/2014/main" id="{A7E094B1-EDF3-0270-A913-18C9C991CDB6}"/>
              </a:ext>
            </a:extLst>
          </p:cNvPr>
          <p:cNvCxnSpPr/>
          <p:nvPr/>
        </p:nvCxnSpPr>
        <p:spPr>
          <a:xfrm>
            <a:off x="5013434" y="2219875"/>
            <a:ext cx="786268"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38" name="Straight Connector 37">
            <a:extLst>
              <a:ext uri="{FF2B5EF4-FFF2-40B4-BE49-F238E27FC236}">
                <a16:creationId xmlns:a16="http://schemas.microsoft.com/office/drawing/2014/main" id="{116E4BAA-E523-1435-B735-5F0D43C3D712}"/>
              </a:ext>
            </a:extLst>
          </p:cNvPr>
          <p:cNvCxnSpPr/>
          <p:nvPr/>
        </p:nvCxnSpPr>
        <p:spPr>
          <a:xfrm>
            <a:off x="164220" y="4502232"/>
            <a:ext cx="5675515" cy="0"/>
          </a:xfrm>
          <a:prstGeom prst="line">
            <a:avLst/>
          </a:prstGeom>
        </p:spPr>
        <p:style>
          <a:lnRef idx="3">
            <a:schemeClr val="dk1"/>
          </a:lnRef>
          <a:fillRef idx="0">
            <a:schemeClr val="dk1"/>
          </a:fillRef>
          <a:effectRef idx="2">
            <a:schemeClr val="dk1"/>
          </a:effectRef>
          <a:fontRef idx="minor">
            <a:schemeClr val="tx1"/>
          </a:fontRef>
        </p:style>
      </p:cxnSp>
      <p:cxnSp>
        <p:nvCxnSpPr>
          <p:cNvPr id="42" name="Straight Connector 41">
            <a:extLst>
              <a:ext uri="{FF2B5EF4-FFF2-40B4-BE49-F238E27FC236}">
                <a16:creationId xmlns:a16="http://schemas.microsoft.com/office/drawing/2014/main" id="{FE5888C1-456C-AFBC-8451-74924E699167}"/>
              </a:ext>
            </a:extLst>
          </p:cNvPr>
          <p:cNvCxnSpPr/>
          <p:nvPr/>
        </p:nvCxnSpPr>
        <p:spPr>
          <a:xfrm>
            <a:off x="164220" y="4502232"/>
            <a:ext cx="0" cy="1740913"/>
          </a:xfrm>
          <a:prstGeom prst="line">
            <a:avLst/>
          </a:prstGeom>
        </p:spPr>
        <p:style>
          <a:lnRef idx="3">
            <a:schemeClr val="dk1"/>
          </a:lnRef>
          <a:fillRef idx="0">
            <a:schemeClr val="dk1"/>
          </a:fillRef>
          <a:effectRef idx="2">
            <a:schemeClr val="dk1"/>
          </a:effectRef>
          <a:fontRef idx="minor">
            <a:schemeClr val="tx1"/>
          </a:fontRef>
        </p:style>
      </p:cxnSp>
      <p:cxnSp>
        <p:nvCxnSpPr>
          <p:cNvPr id="44" name="Straight Connector 43">
            <a:extLst>
              <a:ext uri="{FF2B5EF4-FFF2-40B4-BE49-F238E27FC236}">
                <a16:creationId xmlns:a16="http://schemas.microsoft.com/office/drawing/2014/main" id="{6A7A33BC-6659-A64C-5746-EF0BA9AF4F8F}"/>
              </a:ext>
            </a:extLst>
          </p:cNvPr>
          <p:cNvCxnSpPr>
            <a:cxnSpLocks/>
          </p:cNvCxnSpPr>
          <p:nvPr/>
        </p:nvCxnSpPr>
        <p:spPr>
          <a:xfrm>
            <a:off x="5839735" y="4502232"/>
            <a:ext cx="0" cy="1740913"/>
          </a:xfrm>
          <a:prstGeom prst="line">
            <a:avLst/>
          </a:prstGeom>
        </p:spPr>
        <p:style>
          <a:lnRef idx="3">
            <a:schemeClr val="dk1"/>
          </a:lnRef>
          <a:fillRef idx="0">
            <a:schemeClr val="dk1"/>
          </a:fillRef>
          <a:effectRef idx="2">
            <a:schemeClr val="dk1"/>
          </a:effectRef>
          <a:fontRef idx="minor">
            <a:schemeClr val="tx1"/>
          </a:fontRef>
        </p:style>
      </p:cxnSp>
      <p:cxnSp>
        <p:nvCxnSpPr>
          <p:cNvPr id="47" name="Straight Connector 46">
            <a:extLst>
              <a:ext uri="{FF2B5EF4-FFF2-40B4-BE49-F238E27FC236}">
                <a16:creationId xmlns:a16="http://schemas.microsoft.com/office/drawing/2014/main" id="{09B29217-E9DD-E5AB-324F-A827BDD32CF1}"/>
              </a:ext>
            </a:extLst>
          </p:cNvPr>
          <p:cNvCxnSpPr/>
          <p:nvPr/>
        </p:nvCxnSpPr>
        <p:spPr>
          <a:xfrm>
            <a:off x="164220" y="6243145"/>
            <a:ext cx="5675515" cy="0"/>
          </a:xfrm>
          <a:prstGeom prst="line">
            <a:avLst/>
          </a:prstGeom>
        </p:spPr>
        <p:style>
          <a:lnRef idx="3">
            <a:schemeClr val="dk1"/>
          </a:lnRef>
          <a:fillRef idx="0">
            <a:schemeClr val="dk1"/>
          </a:fillRef>
          <a:effectRef idx="2">
            <a:schemeClr val="dk1"/>
          </a:effectRef>
          <a:fontRef idx="minor">
            <a:schemeClr val="tx1"/>
          </a:fontRef>
        </p:style>
      </p:cxnSp>
      <p:cxnSp>
        <p:nvCxnSpPr>
          <p:cNvPr id="52" name="Straight Arrow Connector 51">
            <a:extLst>
              <a:ext uri="{FF2B5EF4-FFF2-40B4-BE49-F238E27FC236}">
                <a16:creationId xmlns:a16="http://schemas.microsoft.com/office/drawing/2014/main" id="{A8710991-F2A4-02A0-4E16-1C91CD4E59B5}"/>
              </a:ext>
            </a:extLst>
          </p:cNvPr>
          <p:cNvCxnSpPr>
            <a:stCxn id="11" idx="1"/>
          </p:cNvCxnSpPr>
          <p:nvPr/>
        </p:nvCxnSpPr>
        <p:spPr>
          <a:xfrm flipH="1">
            <a:off x="5839735" y="5117967"/>
            <a:ext cx="550908"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4219542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FC4BCFE-56EC-0046-7D1A-7A0D68C28302}"/>
              </a:ext>
            </a:extLst>
          </p:cNvPr>
          <p:cNvPicPr>
            <a:picLocks noChangeAspect="1"/>
          </p:cNvPicPr>
          <p:nvPr/>
        </p:nvPicPr>
        <p:blipFill>
          <a:blip r:embed="rId2"/>
          <a:stretch>
            <a:fillRect/>
          </a:stretch>
        </p:blipFill>
        <p:spPr>
          <a:xfrm>
            <a:off x="0" y="826458"/>
            <a:ext cx="5291850" cy="3424990"/>
          </a:xfrm>
          <a:prstGeom prst="rect">
            <a:avLst/>
          </a:prstGeom>
        </p:spPr>
      </p:pic>
      <p:pic>
        <p:nvPicPr>
          <p:cNvPr id="6" name="Picture 5">
            <a:extLst>
              <a:ext uri="{FF2B5EF4-FFF2-40B4-BE49-F238E27FC236}">
                <a16:creationId xmlns:a16="http://schemas.microsoft.com/office/drawing/2014/main" id="{FA225470-49E4-88D6-C6B9-A96821342D52}"/>
              </a:ext>
            </a:extLst>
          </p:cNvPr>
          <p:cNvPicPr>
            <a:picLocks noChangeAspect="1"/>
          </p:cNvPicPr>
          <p:nvPr/>
        </p:nvPicPr>
        <p:blipFill>
          <a:blip r:embed="rId3"/>
          <a:stretch>
            <a:fillRect/>
          </a:stretch>
        </p:blipFill>
        <p:spPr>
          <a:xfrm>
            <a:off x="6403188" y="3429000"/>
            <a:ext cx="5658430" cy="3242317"/>
          </a:xfrm>
          <a:prstGeom prst="rect">
            <a:avLst/>
          </a:prstGeom>
        </p:spPr>
      </p:pic>
      <p:sp>
        <p:nvSpPr>
          <p:cNvPr id="10" name="TextBox 9">
            <a:extLst>
              <a:ext uri="{FF2B5EF4-FFF2-40B4-BE49-F238E27FC236}">
                <a16:creationId xmlns:a16="http://schemas.microsoft.com/office/drawing/2014/main" id="{73538F07-FB2E-98DA-EB3D-ED61F34965F2}"/>
              </a:ext>
            </a:extLst>
          </p:cNvPr>
          <p:cNvSpPr txBox="1"/>
          <p:nvPr/>
        </p:nvSpPr>
        <p:spPr>
          <a:xfrm>
            <a:off x="5965618" y="1405099"/>
            <a:ext cx="6096000" cy="1477328"/>
          </a:xfrm>
          <a:prstGeom prst="rect">
            <a:avLst/>
          </a:prstGeom>
          <a:noFill/>
        </p:spPr>
        <p:txBody>
          <a:bodyPr wrap="square">
            <a:spAutoFit/>
          </a:bodyPr>
          <a:lstStyle/>
          <a:p>
            <a:pPr>
              <a:buNone/>
            </a:pPr>
            <a:r>
              <a:rPr lang="en-US" b="1" dirty="0"/>
              <a:t>The key distribution is fairly balanced across all 12 musical keys, with common keys like C, G, and D appearing most frequently—reflecting typical Western music composition patterns while showing broad harmonic diversity in the Spotify dataset</a:t>
            </a:r>
            <a:r>
              <a:rPr lang="en-US" dirty="0"/>
              <a:t>.</a:t>
            </a:r>
          </a:p>
        </p:txBody>
      </p:sp>
      <p:sp>
        <p:nvSpPr>
          <p:cNvPr id="12" name="TextBox 11">
            <a:extLst>
              <a:ext uri="{FF2B5EF4-FFF2-40B4-BE49-F238E27FC236}">
                <a16:creationId xmlns:a16="http://schemas.microsoft.com/office/drawing/2014/main" id="{CE993CB5-2B7B-D661-1688-34250C227355}"/>
              </a:ext>
            </a:extLst>
          </p:cNvPr>
          <p:cNvSpPr txBox="1"/>
          <p:nvPr/>
        </p:nvSpPr>
        <p:spPr>
          <a:xfrm>
            <a:off x="0" y="4554214"/>
            <a:ext cx="6096000" cy="1477328"/>
          </a:xfrm>
          <a:prstGeom prst="rect">
            <a:avLst/>
          </a:prstGeom>
          <a:noFill/>
        </p:spPr>
        <p:txBody>
          <a:bodyPr wrap="square">
            <a:spAutoFit/>
          </a:bodyPr>
          <a:lstStyle/>
          <a:p>
            <a:r>
              <a:rPr lang="en-US" b="1" dirty="0"/>
              <a:t>The tempo distribution is multi-modal with strong peaks in the 90–140 BPM range, reflecting the rhythmic characteristics of popular genres such as pop, hip-hop, EDM, and rock, while also showcasing minor clusters from slower and faster niche genres</a:t>
            </a:r>
          </a:p>
        </p:txBody>
      </p:sp>
      <p:sp>
        <p:nvSpPr>
          <p:cNvPr id="14" name="TextBox 13">
            <a:extLst>
              <a:ext uri="{FF2B5EF4-FFF2-40B4-BE49-F238E27FC236}">
                <a16:creationId xmlns:a16="http://schemas.microsoft.com/office/drawing/2014/main" id="{B7F755A6-69B9-1EDC-A6FE-20E744D54C1D}"/>
              </a:ext>
            </a:extLst>
          </p:cNvPr>
          <p:cNvSpPr txBox="1"/>
          <p:nvPr/>
        </p:nvSpPr>
        <p:spPr>
          <a:xfrm>
            <a:off x="3519237" y="-31604"/>
            <a:ext cx="5153525" cy="584775"/>
          </a:xfrm>
          <a:prstGeom prst="rect">
            <a:avLst/>
          </a:prstGeom>
          <a:noFill/>
        </p:spPr>
        <p:txBody>
          <a:bodyPr wrap="square">
            <a:spAutoFit/>
          </a:bodyPr>
          <a:lstStyle/>
          <a:p>
            <a:r>
              <a:rPr lang="en-US" sz="3200" dirty="0">
                <a:solidFill>
                  <a:schemeClr val="accent2">
                    <a:lumMod val="50000"/>
                  </a:schemeClr>
                </a:solidFill>
                <a:latin typeface="Arial Black" panose="020B0A04020102020204" pitchFamily="34" charset="0"/>
              </a:rPr>
              <a:t>Univariate Analysis</a:t>
            </a:r>
          </a:p>
        </p:txBody>
      </p:sp>
    </p:spTree>
    <p:extLst>
      <p:ext uri="{BB962C8B-B14F-4D97-AF65-F5344CB8AC3E}">
        <p14:creationId xmlns:p14="http://schemas.microsoft.com/office/powerpoint/2010/main" val="3925936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707986-0CAC-32D6-8A36-E07915962F05}"/>
              </a:ext>
            </a:extLst>
          </p:cNvPr>
          <p:cNvPicPr>
            <a:picLocks noChangeAspect="1"/>
          </p:cNvPicPr>
          <p:nvPr/>
        </p:nvPicPr>
        <p:blipFill>
          <a:blip r:embed="rId2"/>
          <a:stretch>
            <a:fillRect/>
          </a:stretch>
        </p:blipFill>
        <p:spPr>
          <a:xfrm>
            <a:off x="208547" y="705852"/>
            <a:ext cx="3826827" cy="2723148"/>
          </a:xfrm>
          <a:prstGeom prst="rect">
            <a:avLst/>
          </a:prstGeom>
        </p:spPr>
      </p:pic>
      <p:pic>
        <p:nvPicPr>
          <p:cNvPr id="5" name="Picture 4">
            <a:extLst>
              <a:ext uri="{FF2B5EF4-FFF2-40B4-BE49-F238E27FC236}">
                <a16:creationId xmlns:a16="http://schemas.microsoft.com/office/drawing/2014/main" id="{5ACC357E-C8A8-A57E-1C9B-BD008D2D0E16}"/>
              </a:ext>
            </a:extLst>
          </p:cNvPr>
          <p:cNvPicPr>
            <a:picLocks noChangeAspect="1"/>
          </p:cNvPicPr>
          <p:nvPr/>
        </p:nvPicPr>
        <p:blipFill>
          <a:blip r:embed="rId3"/>
          <a:stretch>
            <a:fillRect/>
          </a:stretch>
        </p:blipFill>
        <p:spPr>
          <a:xfrm>
            <a:off x="4227947" y="705852"/>
            <a:ext cx="4061662" cy="2523825"/>
          </a:xfrm>
          <a:prstGeom prst="rect">
            <a:avLst/>
          </a:prstGeom>
        </p:spPr>
      </p:pic>
      <p:pic>
        <p:nvPicPr>
          <p:cNvPr id="7" name="Picture 6">
            <a:extLst>
              <a:ext uri="{FF2B5EF4-FFF2-40B4-BE49-F238E27FC236}">
                <a16:creationId xmlns:a16="http://schemas.microsoft.com/office/drawing/2014/main" id="{1CCFFD6E-6EA2-0947-7028-7B5AAECF60E8}"/>
              </a:ext>
            </a:extLst>
          </p:cNvPr>
          <p:cNvPicPr>
            <a:picLocks noChangeAspect="1"/>
          </p:cNvPicPr>
          <p:nvPr/>
        </p:nvPicPr>
        <p:blipFill>
          <a:blip r:embed="rId4"/>
          <a:stretch>
            <a:fillRect/>
          </a:stretch>
        </p:blipFill>
        <p:spPr>
          <a:xfrm>
            <a:off x="208547" y="3977864"/>
            <a:ext cx="3693846" cy="2583588"/>
          </a:xfrm>
          <a:prstGeom prst="rect">
            <a:avLst/>
          </a:prstGeom>
        </p:spPr>
      </p:pic>
      <p:pic>
        <p:nvPicPr>
          <p:cNvPr id="9" name="Picture 8">
            <a:extLst>
              <a:ext uri="{FF2B5EF4-FFF2-40B4-BE49-F238E27FC236}">
                <a16:creationId xmlns:a16="http://schemas.microsoft.com/office/drawing/2014/main" id="{FD146D7F-F7C5-957A-598D-69562A313766}"/>
              </a:ext>
            </a:extLst>
          </p:cNvPr>
          <p:cNvPicPr>
            <a:picLocks noChangeAspect="1"/>
          </p:cNvPicPr>
          <p:nvPr/>
        </p:nvPicPr>
        <p:blipFill>
          <a:blip r:embed="rId5"/>
          <a:stretch>
            <a:fillRect/>
          </a:stretch>
        </p:blipFill>
        <p:spPr>
          <a:xfrm>
            <a:off x="4411855" y="3872882"/>
            <a:ext cx="3693846" cy="2643010"/>
          </a:xfrm>
          <a:prstGeom prst="rect">
            <a:avLst/>
          </a:prstGeom>
        </p:spPr>
      </p:pic>
      <p:pic>
        <p:nvPicPr>
          <p:cNvPr id="11" name="Picture 10">
            <a:extLst>
              <a:ext uri="{FF2B5EF4-FFF2-40B4-BE49-F238E27FC236}">
                <a16:creationId xmlns:a16="http://schemas.microsoft.com/office/drawing/2014/main" id="{818E6589-300F-6C56-7323-7D511DD6785F}"/>
              </a:ext>
            </a:extLst>
          </p:cNvPr>
          <p:cNvPicPr>
            <a:picLocks noChangeAspect="1"/>
          </p:cNvPicPr>
          <p:nvPr/>
        </p:nvPicPr>
        <p:blipFill>
          <a:blip r:embed="rId6"/>
          <a:stretch>
            <a:fillRect/>
          </a:stretch>
        </p:blipFill>
        <p:spPr>
          <a:xfrm>
            <a:off x="8559698" y="4004127"/>
            <a:ext cx="3356774" cy="2380520"/>
          </a:xfrm>
          <a:prstGeom prst="rect">
            <a:avLst/>
          </a:prstGeom>
        </p:spPr>
      </p:pic>
      <p:pic>
        <p:nvPicPr>
          <p:cNvPr id="13" name="Picture 12">
            <a:extLst>
              <a:ext uri="{FF2B5EF4-FFF2-40B4-BE49-F238E27FC236}">
                <a16:creationId xmlns:a16="http://schemas.microsoft.com/office/drawing/2014/main" id="{EB875581-9F3F-DDF5-13BB-A891680E4282}"/>
              </a:ext>
            </a:extLst>
          </p:cNvPr>
          <p:cNvPicPr>
            <a:picLocks noChangeAspect="1"/>
          </p:cNvPicPr>
          <p:nvPr/>
        </p:nvPicPr>
        <p:blipFill>
          <a:blip r:embed="rId7"/>
          <a:stretch>
            <a:fillRect/>
          </a:stretch>
        </p:blipFill>
        <p:spPr>
          <a:xfrm>
            <a:off x="8626679" y="705852"/>
            <a:ext cx="3222812" cy="2288057"/>
          </a:xfrm>
          <a:prstGeom prst="rect">
            <a:avLst/>
          </a:prstGeom>
        </p:spPr>
      </p:pic>
      <p:sp>
        <p:nvSpPr>
          <p:cNvPr id="15" name="TextBox 14">
            <a:extLst>
              <a:ext uri="{FF2B5EF4-FFF2-40B4-BE49-F238E27FC236}">
                <a16:creationId xmlns:a16="http://schemas.microsoft.com/office/drawing/2014/main" id="{F6672D9C-17A3-0C35-6FFD-39A105F0974A}"/>
              </a:ext>
            </a:extLst>
          </p:cNvPr>
          <p:cNvSpPr txBox="1"/>
          <p:nvPr/>
        </p:nvSpPr>
        <p:spPr>
          <a:xfrm>
            <a:off x="4035374" y="-16043"/>
            <a:ext cx="6096000" cy="584775"/>
          </a:xfrm>
          <a:prstGeom prst="rect">
            <a:avLst/>
          </a:prstGeom>
          <a:noFill/>
        </p:spPr>
        <p:txBody>
          <a:bodyPr wrap="square">
            <a:spAutoFit/>
          </a:bodyPr>
          <a:lstStyle/>
          <a:p>
            <a:r>
              <a:rPr lang="en-US" sz="3200" dirty="0">
                <a:solidFill>
                  <a:schemeClr val="accent2">
                    <a:lumMod val="50000"/>
                  </a:schemeClr>
                </a:solidFill>
                <a:latin typeface="Arial Black" panose="020B0A04020102020204" pitchFamily="34" charset="0"/>
              </a:rPr>
              <a:t>Univariate Analysis</a:t>
            </a:r>
          </a:p>
        </p:txBody>
      </p:sp>
    </p:spTree>
    <p:extLst>
      <p:ext uri="{BB962C8B-B14F-4D97-AF65-F5344CB8AC3E}">
        <p14:creationId xmlns:p14="http://schemas.microsoft.com/office/powerpoint/2010/main" val="3602220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C80231-8CB4-A9A0-4470-AAF6846EC958}"/>
              </a:ext>
            </a:extLst>
          </p:cNvPr>
          <p:cNvSpPr txBox="1"/>
          <p:nvPr/>
        </p:nvSpPr>
        <p:spPr>
          <a:xfrm>
            <a:off x="92242" y="1097773"/>
            <a:ext cx="6096000" cy="461665"/>
          </a:xfrm>
          <a:prstGeom prst="rect">
            <a:avLst/>
          </a:prstGeom>
          <a:noFill/>
        </p:spPr>
        <p:txBody>
          <a:bodyPr wrap="square">
            <a:spAutoFit/>
          </a:bodyPr>
          <a:lstStyle/>
          <a:p>
            <a:r>
              <a:rPr lang="en-US" sz="2000" b="1" dirty="0" err="1">
                <a:latin typeface="Arial Black" panose="020B0A04020102020204" pitchFamily="34" charset="0"/>
              </a:rPr>
              <a:t>Acousticness</a:t>
            </a:r>
            <a:r>
              <a:rPr lang="en-US" sz="2000" b="1" dirty="0">
                <a:latin typeface="Arial Black" panose="020B0A04020102020204" pitchFamily="34" charset="0"/>
              </a:rPr>
              <a:t> Distribution </a:t>
            </a:r>
            <a:r>
              <a:rPr lang="en-US" sz="2400" b="1" dirty="0">
                <a:latin typeface="Arial Black" panose="020B0A04020102020204" pitchFamily="34" charset="0"/>
              </a:rPr>
              <a:t>:</a:t>
            </a:r>
          </a:p>
        </p:txBody>
      </p:sp>
      <p:sp>
        <p:nvSpPr>
          <p:cNvPr id="5" name="TextBox 4">
            <a:extLst>
              <a:ext uri="{FF2B5EF4-FFF2-40B4-BE49-F238E27FC236}">
                <a16:creationId xmlns:a16="http://schemas.microsoft.com/office/drawing/2014/main" id="{E61D0EB2-485B-BFA0-DEA9-6CA5706A0EA1}"/>
              </a:ext>
            </a:extLst>
          </p:cNvPr>
          <p:cNvSpPr txBox="1"/>
          <p:nvPr/>
        </p:nvSpPr>
        <p:spPr>
          <a:xfrm>
            <a:off x="172452" y="1598584"/>
            <a:ext cx="3657600" cy="2308324"/>
          </a:xfrm>
          <a:prstGeom prst="rect">
            <a:avLst/>
          </a:prstGeom>
          <a:noFill/>
        </p:spPr>
        <p:txBody>
          <a:bodyPr wrap="square">
            <a:spAutoFit/>
          </a:bodyPr>
          <a:lstStyle/>
          <a:p>
            <a:pPr>
              <a:buNone/>
            </a:pPr>
            <a:r>
              <a:rPr lang="en-US" dirty="0"/>
              <a:t>The </a:t>
            </a:r>
            <a:r>
              <a:rPr lang="en-US" dirty="0" err="1"/>
              <a:t>acousticness</a:t>
            </a:r>
            <a:r>
              <a:rPr lang="en-US" dirty="0"/>
              <a:t> distribution shows that the vast majority of Spotify tracks are electronically produced with very low acoustic content, while fully acoustic songs exist but make up a smaller portion—revealing strong modern production trends in the music landscape.</a:t>
            </a:r>
          </a:p>
        </p:txBody>
      </p:sp>
      <p:sp>
        <p:nvSpPr>
          <p:cNvPr id="7" name="TextBox 6">
            <a:extLst>
              <a:ext uri="{FF2B5EF4-FFF2-40B4-BE49-F238E27FC236}">
                <a16:creationId xmlns:a16="http://schemas.microsoft.com/office/drawing/2014/main" id="{9F911F4B-6D9D-B6D6-AC2B-D0B005B8E8C4}"/>
              </a:ext>
            </a:extLst>
          </p:cNvPr>
          <p:cNvSpPr txBox="1"/>
          <p:nvPr/>
        </p:nvSpPr>
        <p:spPr>
          <a:xfrm>
            <a:off x="4211052" y="328681"/>
            <a:ext cx="6144126" cy="584775"/>
          </a:xfrm>
          <a:prstGeom prst="rect">
            <a:avLst/>
          </a:prstGeom>
          <a:noFill/>
        </p:spPr>
        <p:txBody>
          <a:bodyPr wrap="square">
            <a:spAutoFit/>
          </a:bodyPr>
          <a:lstStyle/>
          <a:p>
            <a:r>
              <a:rPr lang="en-US" sz="3200" dirty="0">
                <a:solidFill>
                  <a:schemeClr val="accent2">
                    <a:lumMod val="50000"/>
                  </a:schemeClr>
                </a:solidFill>
                <a:latin typeface="Arial Black" panose="020B0A04020102020204" pitchFamily="34" charset="0"/>
              </a:rPr>
              <a:t>Univariate Analysis</a:t>
            </a:r>
          </a:p>
        </p:txBody>
      </p:sp>
      <p:sp>
        <p:nvSpPr>
          <p:cNvPr id="9" name="TextBox 8">
            <a:extLst>
              <a:ext uri="{FF2B5EF4-FFF2-40B4-BE49-F238E27FC236}">
                <a16:creationId xmlns:a16="http://schemas.microsoft.com/office/drawing/2014/main" id="{32E3528B-425C-EF74-8179-0196148A98DD}"/>
              </a:ext>
            </a:extLst>
          </p:cNvPr>
          <p:cNvSpPr txBox="1"/>
          <p:nvPr/>
        </p:nvSpPr>
        <p:spPr>
          <a:xfrm>
            <a:off x="4444665" y="1028981"/>
            <a:ext cx="6144126" cy="584775"/>
          </a:xfrm>
          <a:prstGeom prst="rect">
            <a:avLst/>
          </a:prstGeom>
          <a:noFill/>
        </p:spPr>
        <p:txBody>
          <a:bodyPr wrap="square">
            <a:spAutoFit/>
          </a:bodyPr>
          <a:lstStyle/>
          <a:p>
            <a:r>
              <a:rPr lang="en-US" sz="2800" b="1" dirty="0"/>
              <a:t>Loudness Distribution </a:t>
            </a:r>
            <a:r>
              <a:rPr lang="en-US" sz="3200" b="1" dirty="0"/>
              <a:t>:</a:t>
            </a:r>
            <a:endParaRPr lang="en-US" sz="3200" dirty="0"/>
          </a:p>
        </p:txBody>
      </p:sp>
      <p:sp>
        <p:nvSpPr>
          <p:cNvPr id="11" name="TextBox 10">
            <a:extLst>
              <a:ext uri="{FF2B5EF4-FFF2-40B4-BE49-F238E27FC236}">
                <a16:creationId xmlns:a16="http://schemas.microsoft.com/office/drawing/2014/main" id="{D5FC8264-73C9-7EA5-E431-05BE5C8227B6}"/>
              </a:ext>
            </a:extLst>
          </p:cNvPr>
          <p:cNvSpPr txBox="1"/>
          <p:nvPr/>
        </p:nvSpPr>
        <p:spPr>
          <a:xfrm>
            <a:off x="4444665" y="1613756"/>
            <a:ext cx="3657600" cy="2031325"/>
          </a:xfrm>
          <a:prstGeom prst="rect">
            <a:avLst/>
          </a:prstGeom>
          <a:noFill/>
        </p:spPr>
        <p:txBody>
          <a:bodyPr wrap="square">
            <a:spAutoFit/>
          </a:bodyPr>
          <a:lstStyle/>
          <a:p>
            <a:r>
              <a:rPr lang="en-US" dirty="0"/>
              <a:t>The loudness distribution appears extremely skewed due to corrupt or placeholder values below –60 dB, but the true audio loudness data lies between –5 and –30 dB; cleaning these invalid values is essential for accurate analysis.</a:t>
            </a:r>
          </a:p>
        </p:txBody>
      </p:sp>
      <p:sp>
        <p:nvSpPr>
          <p:cNvPr id="14" name="TextBox 13">
            <a:extLst>
              <a:ext uri="{FF2B5EF4-FFF2-40B4-BE49-F238E27FC236}">
                <a16:creationId xmlns:a16="http://schemas.microsoft.com/office/drawing/2014/main" id="{03593BF6-3C1A-CA7D-D584-B98B370D71A3}"/>
              </a:ext>
            </a:extLst>
          </p:cNvPr>
          <p:cNvSpPr txBox="1"/>
          <p:nvPr/>
        </p:nvSpPr>
        <p:spPr>
          <a:xfrm>
            <a:off x="0" y="4195628"/>
            <a:ext cx="6280484" cy="523220"/>
          </a:xfrm>
          <a:prstGeom prst="rect">
            <a:avLst/>
          </a:prstGeom>
          <a:noFill/>
        </p:spPr>
        <p:txBody>
          <a:bodyPr wrap="square">
            <a:spAutoFit/>
          </a:bodyPr>
          <a:lstStyle/>
          <a:p>
            <a:r>
              <a:rPr lang="en-US" sz="2800" b="1" dirty="0"/>
              <a:t>Danceability Distribution </a:t>
            </a:r>
          </a:p>
        </p:txBody>
      </p:sp>
      <p:sp>
        <p:nvSpPr>
          <p:cNvPr id="16" name="TextBox 15">
            <a:extLst>
              <a:ext uri="{FF2B5EF4-FFF2-40B4-BE49-F238E27FC236}">
                <a16:creationId xmlns:a16="http://schemas.microsoft.com/office/drawing/2014/main" id="{0BF1BCC7-8441-3AD2-C329-2E4C52A58F86}"/>
              </a:ext>
            </a:extLst>
          </p:cNvPr>
          <p:cNvSpPr txBox="1"/>
          <p:nvPr/>
        </p:nvSpPr>
        <p:spPr>
          <a:xfrm>
            <a:off x="164431" y="4678522"/>
            <a:ext cx="4046621" cy="2031325"/>
          </a:xfrm>
          <a:prstGeom prst="rect">
            <a:avLst/>
          </a:prstGeom>
          <a:noFill/>
        </p:spPr>
        <p:txBody>
          <a:bodyPr wrap="square">
            <a:spAutoFit/>
          </a:bodyPr>
          <a:lstStyle/>
          <a:p>
            <a:r>
              <a:rPr lang="en-US" dirty="0"/>
              <a:t>The danceability distribution shows that most Spotify tracks are moderately to highly danceable, with a strong peak around 0.7, reflecting modern music’s rhythmic emphasis, while only a small fraction of tracks exhibit low danceability or invalid values requiring cleaning</a:t>
            </a:r>
          </a:p>
        </p:txBody>
      </p:sp>
      <p:sp>
        <p:nvSpPr>
          <p:cNvPr id="18" name="TextBox 17">
            <a:extLst>
              <a:ext uri="{FF2B5EF4-FFF2-40B4-BE49-F238E27FC236}">
                <a16:creationId xmlns:a16="http://schemas.microsoft.com/office/drawing/2014/main" id="{054512DF-2704-33D8-D542-E78683936A98}"/>
              </a:ext>
            </a:extLst>
          </p:cNvPr>
          <p:cNvSpPr txBox="1"/>
          <p:nvPr/>
        </p:nvSpPr>
        <p:spPr>
          <a:xfrm>
            <a:off x="4593860" y="4167621"/>
            <a:ext cx="6774180" cy="523220"/>
          </a:xfrm>
          <a:prstGeom prst="rect">
            <a:avLst/>
          </a:prstGeom>
          <a:noFill/>
        </p:spPr>
        <p:txBody>
          <a:bodyPr wrap="square">
            <a:spAutoFit/>
          </a:bodyPr>
          <a:lstStyle/>
          <a:p>
            <a:r>
              <a:rPr lang="en-US" sz="2800" b="1" dirty="0"/>
              <a:t>Energy Distribution</a:t>
            </a:r>
          </a:p>
        </p:txBody>
      </p:sp>
      <p:sp>
        <p:nvSpPr>
          <p:cNvPr id="20" name="TextBox 19">
            <a:extLst>
              <a:ext uri="{FF2B5EF4-FFF2-40B4-BE49-F238E27FC236}">
                <a16:creationId xmlns:a16="http://schemas.microsoft.com/office/drawing/2014/main" id="{5C1BE79D-D2C7-70EA-AAE9-11AF1921982A}"/>
              </a:ext>
            </a:extLst>
          </p:cNvPr>
          <p:cNvSpPr txBox="1"/>
          <p:nvPr/>
        </p:nvSpPr>
        <p:spPr>
          <a:xfrm>
            <a:off x="4444665" y="4670678"/>
            <a:ext cx="3917283" cy="2031325"/>
          </a:xfrm>
          <a:prstGeom prst="rect">
            <a:avLst/>
          </a:prstGeom>
          <a:noFill/>
        </p:spPr>
        <p:txBody>
          <a:bodyPr wrap="square">
            <a:spAutoFit/>
          </a:bodyPr>
          <a:lstStyle/>
          <a:p>
            <a:pPr>
              <a:buNone/>
            </a:pPr>
            <a:r>
              <a:rPr lang="en-US" dirty="0"/>
              <a:t>The energy distribution shows that most Spotify tracks are highly energetic—with a strong peak around 0.8—reflecting modern production styles and listener preferences for upbeat, dynamic music, while very low-energy songs and negative values appear rarely.</a:t>
            </a:r>
          </a:p>
        </p:txBody>
      </p:sp>
      <p:sp>
        <p:nvSpPr>
          <p:cNvPr id="22" name="TextBox 21">
            <a:extLst>
              <a:ext uri="{FF2B5EF4-FFF2-40B4-BE49-F238E27FC236}">
                <a16:creationId xmlns:a16="http://schemas.microsoft.com/office/drawing/2014/main" id="{380918AE-A4FA-7D77-A48F-6206E2E9DCB5}"/>
              </a:ext>
            </a:extLst>
          </p:cNvPr>
          <p:cNvSpPr txBox="1"/>
          <p:nvPr/>
        </p:nvSpPr>
        <p:spPr>
          <a:xfrm>
            <a:off x="8361948" y="1142490"/>
            <a:ext cx="6777788" cy="523220"/>
          </a:xfrm>
          <a:prstGeom prst="rect">
            <a:avLst/>
          </a:prstGeom>
          <a:noFill/>
        </p:spPr>
        <p:txBody>
          <a:bodyPr wrap="square">
            <a:spAutoFit/>
          </a:bodyPr>
          <a:lstStyle/>
          <a:p>
            <a:r>
              <a:rPr lang="en-US" sz="2800" b="1" dirty="0" err="1"/>
              <a:t>Speechiness</a:t>
            </a:r>
            <a:r>
              <a:rPr lang="en-US" sz="2800" b="1" dirty="0"/>
              <a:t> Distribution :</a:t>
            </a:r>
          </a:p>
        </p:txBody>
      </p:sp>
      <p:sp>
        <p:nvSpPr>
          <p:cNvPr id="24" name="TextBox 23">
            <a:extLst>
              <a:ext uri="{FF2B5EF4-FFF2-40B4-BE49-F238E27FC236}">
                <a16:creationId xmlns:a16="http://schemas.microsoft.com/office/drawing/2014/main" id="{424D127A-ED29-B991-6C3E-23B4289046B5}"/>
              </a:ext>
            </a:extLst>
          </p:cNvPr>
          <p:cNvSpPr txBox="1"/>
          <p:nvPr/>
        </p:nvSpPr>
        <p:spPr>
          <a:xfrm>
            <a:off x="8396536" y="1729281"/>
            <a:ext cx="3657600" cy="2031325"/>
          </a:xfrm>
          <a:prstGeom prst="rect">
            <a:avLst/>
          </a:prstGeom>
          <a:noFill/>
        </p:spPr>
        <p:txBody>
          <a:bodyPr wrap="square">
            <a:spAutoFit/>
          </a:bodyPr>
          <a:lstStyle/>
          <a:p>
            <a:pPr>
              <a:buNone/>
            </a:pPr>
            <a:r>
              <a:rPr lang="en-US" dirty="0"/>
              <a:t>The </a:t>
            </a:r>
            <a:r>
              <a:rPr lang="en-US" dirty="0" err="1"/>
              <a:t>speechiness</a:t>
            </a:r>
            <a:r>
              <a:rPr lang="en-US" dirty="0"/>
              <a:t> distribution is heavily skewed toward near-zero values, indicating that most Spotify tracks contain almost no spoken-word content, while highly speech-driven audio (podcasts and speeches) is extremely rare in the dataset.</a:t>
            </a:r>
          </a:p>
        </p:txBody>
      </p:sp>
      <p:sp>
        <p:nvSpPr>
          <p:cNvPr id="26" name="TextBox 25">
            <a:extLst>
              <a:ext uri="{FF2B5EF4-FFF2-40B4-BE49-F238E27FC236}">
                <a16:creationId xmlns:a16="http://schemas.microsoft.com/office/drawing/2014/main" id="{D2C047D9-A37B-5D62-6CEA-51851E9BEAA3}"/>
              </a:ext>
            </a:extLst>
          </p:cNvPr>
          <p:cNvSpPr txBox="1"/>
          <p:nvPr/>
        </p:nvSpPr>
        <p:spPr>
          <a:xfrm>
            <a:off x="8511143" y="4209013"/>
            <a:ext cx="7563852" cy="461665"/>
          </a:xfrm>
          <a:prstGeom prst="rect">
            <a:avLst/>
          </a:prstGeom>
          <a:noFill/>
        </p:spPr>
        <p:txBody>
          <a:bodyPr wrap="square">
            <a:spAutoFit/>
          </a:bodyPr>
          <a:lstStyle/>
          <a:p>
            <a:r>
              <a:rPr lang="en-US" sz="2400" b="1" dirty="0"/>
              <a:t>Time Signature Distribution </a:t>
            </a:r>
          </a:p>
        </p:txBody>
      </p:sp>
      <p:sp>
        <p:nvSpPr>
          <p:cNvPr id="28" name="TextBox 27">
            <a:extLst>
              <a:ext uri="{FF2B5EF4-FFF2-40B4-BE49-F238E27FC236}">
                <a16:creationId xmlns:a16="http://schemas.microsoft.com/office/drawing/2014/main" id="{A7D70F8D-F5A9-C64C-FE3F-81D77BA07D82}"/>
              </a:ext>
            </a:extLst>
          </p:cNvPr>
          <p:cNvSpPr txBox="1"/>
          <p:nvPr/>
        </p:nvSpPr>
        <p:spPr>
          <a:xfrm>
            <a:off x="8396536" y="4667081"/>
            <a:ext cx="3917283" cy="2031325"/>
          </a:xfrm>
          <a:prstGeom prst="rect">
            <a:avLst/>
          </a:prstGeom>
          <a:noFill/>
        </p:spPr>
        <p:txBody>
          <a:bodyPr wrap="square">
            <a:spAutoFit/>
          </a:bodyPr>
          <a:lstStyle/>
          <a:p>
            <a:r>
              <a:rPr lang="en-US" dirty="0"/>
              <a:t>The time signature distribution is overwhelmingly dominated by 4/4 (common time), with a smaller 3/4 presence and only rare instances of complex or invalid signatures, reflecting the rhythmic uniformity of modern commercial music</a:t>
            </a:r>
          </a:p>
        </p:txBody>
      </p:sp>
    </p:spTree>
    <p:extLst>
      <p:ext uri="{BB962C8B-B14F-4D97-AF65-F5344CB8AC3E}">
        <p14:creationId xmlns:p14="http://schemas.microsoft.com/office/powerpoint/2010/main" val="2544329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1B4A991-AE3E-C9A1-A026-91E5E7693F85}"/>
              </a:ext>
            </a:extLst>
          </p:cNvPr>
          <p:cNvSpPr txBox="1"/>
          <p:nvPr/>
        </p:nvSpPr>
        <p:spPr>
          <a:xfrm>
            <a:off x="3967887" y="9390"/>
            <a:ext cx="6096000" cy="584775"/>
          </a:xfrm>
          <a:prstGeom prst="rect">
            <a:avLst/>
          </a:prstGeom>
          <a:noFill/>
        </p:spPr>
        <p:txBody>
          <a:bodyPr wrap="square">
            <a:spAutoFit/>
          </a:bodyPr>
          <a:lstStyle/>
          <a:p>
            <a:r>
              <a:rPr lang="en-US" sz="3200" dirty="0">
                <a:solidFill>
                  <a:schemeClr val="accent2">
                    <a:lumMod val="50000"/>
                  </a:schemeClr>
                </a:solidFill>
                <a:latin typeface="Arial Black" panose="020B0A04020102020204" pitchFamily="34" charset="0"/>
              </a:rPr>
              <a:t>Univariate Analysis</a:t>
            </a:r>
          </a:p>
        </p:txBody>
      </p:sp>
      <p:pic>
        <p:nvPicPr>
          <p:cNvPr id="2050" name="Picture 2">
            <a:extLst>
              <a:ext uri="{FF2B5EF4-FFF2-40B4-BE49-F238E27FC236}">
                <a16:creationId xmlns:a16="http://schemas.microsoft.com/office/drawing/2014/main" id="{A5644EA2-D79F-E176-0134-E8950C7D1E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4337" y="1123162"/>
            <a:ext cx="3867562" cy="34679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DDC9C4D-D7E4-6939-E82E-74EDC1D7498A}"/>
              </a:ext>
            </a:extLst>
          </p:cNvPr>
          <p:cNvSpPr txBox="1"/>
          <p:nvPr/>
        </p:nvSpPr>
        <p:spPr>
          <a:xfrm>
            <a:off x="5755907" y="1421527"/>
            <a:ext cx="6096000" cy="523220"/>
          </a:xfrm>
          <a:prstGeom prst="rect">
            <a:avLst/>
          </a:prstGeom>
          <a:noFill/>
        </p:spPr>
        <p:txBody>
          <a:bodyPr wrap="square">
            <a:spAutoFit/>
          </a:bodyPr>
          <a:lstStyle/>
          <a:p>
            <a:r>
              <a:rPr lang="en-US" sz="2800" b="1" dirty="0">
                <a:solidFill>
                  <a:srgbClr val="002060"/>
                </a:solidFill>
              </a:rPr>
              <a:t>Language Distribution in Spotify Tracks</a:t>
            </a:r>
            <a:endParaRPr lang="en-US" sz="2800" dirty="0">
              <a:solidFill>
                <a:srgbClr val="002060"/>
              </a:solidFill>
            </a:endParaRPr>
          </a:p>
        </p:txBody>
      </p:sp>
      <p:sp>
        <p:nvSpPr>
          <p:cNvPr id="6" name="TextBox 5">
            <a:extLst>
              <a:ext uri="{FF2B5EF4-FFF2-40B4-BE49-F238E27FC236}">
                <a16:creationId xmlns:a16="http://schemas.microsoft.com/office/drawing/2014/main" id="{48784BC5-1EFB-EDDC-15C1-B8EB8264C987}"/>
              </a:ext>
            </a:extLst>
          </p:cNvPr>
          <p:cNvSpPr txBox="1"/>
          <p:nvPr/>
        </p:nvSpPr>
        <p:spPr>
          <a:xfrm>
            <a:off x="5868203" y="1964753"/>
            <a:ext cx="6096000" cy="1938992"/>
          </a:xfrm>
          <a:prstGeom prst="rect">
            <a:avLst/>
          </a:prstGeom>
          <a:noFill/>
        </p:spPr>
        <p:txBody>
          <a:bodyPr wrap="square">
            <a:spAutoFit/>
          </a:bodyPr>
          <a:lstStyle/>
          <a:p>
            <a:pPr>
              <a:buNone/>
            </a:pPr>
            <a:r>
              <a:rPr lang="en-US" sz="2000" b="1" dirty="0"/>
              <a:t>The donut chart shows that English dominates the Spotify dataset, while Tamil, Korean, and Hindi also hold significant shares, reflecting a diverse multilingual catalog with substantial Asian influence and some metadata gaps represented by the large “Unknown” category.</a:t>
            </a:r>
          </a:p>
        </p:txBody>
      </p:sp>
      <p:sp>
        <p:nvSpPr>
          <p:cNvPr id="17" name="TextBox 16">
            <a:extLst>
              <a:ext uri="{FF2B5EF4-FFF2-40B4-BE49-F238E27FC236}">
                <a16:creationId xmlns:a16="http://schemas.microsoft.com/office/drawing/2014/main" id="{B11BA558-B0C3-3523-EDEC-E6350CBE2C19}"/>
              </a:ext>
            </a:extLst>
          </p:cNvPr>
          <p:cNvSpPr txBox="1"/>
          <p:nvPr/>
        </p:nvSpPr>
        <p:spPr>
          <a:xfrm>
            <a:off x="5868203" y="3923751"/>
            <a:ext cx="6096000" cy="2862322"/>
          </a:xfrm>
          <a:prstGeom prst="rect">
            <a:avLst/>
          </a:prstGeom>
          <a:noFill/>
        </p:spPr>
        <p:txBody>
          <a:bodyPr wrap="square">
            <a:spAutoFit/>
          </a:bodyPr>
          <a:lstStyle/>
          <a:p>
            <a:pPr>
              <a:buNone/>
            </a:pPr>
            <a:r>
              <a:rPr lang="en-US" b="1" dirty="0"/>
              <a:t> </a:t>
            </a:r>
            <a:r>
              <a:rPr lang="en-US" b="1" dirty="0">
                <a:highlight>
                  <a:srgbClr val="FFFF00"/>
                </a:highlight>
              </a:rPr>
              <a:t>Interpretation &amp; Insights</a:t>
            </a:r>
          </a:p>
          <a:p>
            <a:pPr>
              <a:buNone/>
            </a:pPr>
            <a:r>
              <a:rPr lang="en-US" b="1" dirty="0"/>
              <a:t> The dataset is heavily influenced by global mainstream markets</a:t>
            </a:r>
          </a:p>
          <a:p>
            <a:pPr>
              <a:buNone/>
            </a:pPr>
            <a:r>
              <a:rPr lang="en-US" dirty="0"/>
              <a:t>English continues to dominate the digital music space.</a:t>
            </a:r>
          </a:p>
          <a:p>
            <a:pPr>
              <a:buNone/>
            </a:pPr>
            <a:r>
              <a:rPr lang="en-US" b="1" dirty="0"/>
              <a:t> Strong Asian language presence</a:t>
            </a:r>
          </a:p>
          <a:p>
            <a:pPr>
              <a:buNone/>
            </a:pPr>
            <a:r>
              <a:rPr lang="en-US" dirty="0"/>
              <a:t>Tamil, Hindi, and Korean together make up a </a:t>
            </a:r>
            <a:r>
              <a:rPr lang="en-US" b="1" dirty="0"/>
              <a:t>large portion</a:t>
            </a:r>
            <a:r>
              <a:rPr lang="en-US" dirty="0"/>
              <a:t>, showing the dataset may be India/Asia-heavy.</a:t>
            </a:r>
          </a:p>
          <a:p>
            <a:pPr>
              <a:buNone/>
            </a:pPr>
            <a:r>
              <a:rPr lang="en-US" b="1" dirty="0"/>
              <a:t> Unknown language share is high</a:t>
            </a:r>
          </a:p>
          <a:p>
            <a:pPr>
              <a:buNone/>
            </a:pPr>
            <a:r>
              <a:rPr lang="en-US" dirty="0"/>
              <a:t>This indicates metadata inconsistencies that may require cleaning before language-based analysis.</a:t>
            </a:r>
          </a:p>
        </p:txBody>
      </p:sp>
      <p:pic>
        <p:nvPicPr>
          <p:cNvPr id="2052" name="Picture 4">
            <a:extLst>
              <a:ext uri="{FF2B5EF4-FFF2-40B4-BE49-F238E27FC236}">
                <a16:creationId xmlns:a16="http://schemas.microsoft.com/office/drawing/2014/main" id="{2CA5EDD5-1D2F-A34D-12D9-26840A3FC0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337" y="4686329"/>
            <a:ext cx="3867562" cy="2097017"/>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9976C6E5-EE3E-97E0-F41F-8744541FDA10}"/>
              </a:ext>
            </a:extLst>
          </p:cNvPr>
          <p:cNvSpPr txBox="1"/>
          <p:nvPr/>
        </p:nvSpPr>
        <p:spPr>
          <a:xfrm>
            <a:off x="0" y="484626"/>
            <a:ext cx="6096000" cy="523220"/>
          </a:xfrm>
          <a:prstGeom prst="rect">
            <a:avLst/>
          </a:prstGeom>
          <a:noFill/>
        </p:spPr>
        <p:txBody>
          <a:bodyPr wrap="square">
            <a:spAutoFit/>
          </a:bodyPr>
          <a:lstStyle/>
          <a:p>
            <a:r>
              <a:rPr lang="en-US" sz="2800" dirty="0">
                <a:solidFill>
                  <a:schemeClr val="accent1">
                    <a:lumMod val="75000"/>
                  </a:schemeClr>
                </a:solidFill>
              </a:rPr>
              <a:t>Categorical Features Visualization </a:t>
            </a:r>
          </a:p>
        </p:txBody>
      </p:sp>
    </p:spTree>
    <p:extLst>
      <p:ext uri="{BB962C8B-B14F-4D97-AF65-F5344CB8AC3E}">
        <p14:creationId xmlns:p14="http://schemas.microsoft.com/office/powerpoint/2010/main" val="37496847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0F6C04A0-EE2A-DEBE-7783-E1912E6D22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840" y="988103"/>
            <a:ext cx="5153928" cy="302866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BA1BE743-4418-CBCA-677A-EB1DCE87EE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361934"/>
            <a:ext cx="5727032" cy="341653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5CA233F-FDF6-BB12-9EB3-17A8BE7F0460}"/>
              </a:ext>
            </a:extLst>
          </p:cNvPr>
          <p:cNvSpPr txBox="1"/>
          <p:nvPr/>
        </p:nvSpPr>
        <p:spPr>
          <a:xfrm>
            <a:off x="0" y="4851647"/>
            <a:ext cx="5245768" cy="1477328"/>
          </a:xfrm>
          <a:prstGeom prst="rect">
            <a:avLst/>
          </a:prstGeom>
          <a:noFill/>
        </p:spPr>
        <p:txBody>
          <a:bodyPr wrap="square">
            <a:spAutoFit/>
          </a:bodyPr>
          <a:lstStyle/>
          <a:p>
            <a:r>
              <a:rPr lang="en-US" b="1" dirty="0"/>
              <a:t>The rare-language distribution shows that Telugu and Malayalam each contribute less than 1% of the dataset—indicating limited but meaningful representation of South Indian regional music within Spotify’s global catalog.</a:t>
            </a:r>
          </a:p>
        </p:txBody>
      </p:sp>
      <p:sp>
        <p:nvSpPr>
          <p:cNvPr id="5" name="TextBox 4">
            <a:extLst>
              <a:ext uri="{FF2B5EF4-FFF2-40B4-BE49-F238E27FC236}">
                <a16:creationId xmlns:a16="http://schemas.microsoft.com/office/drawing/2014/main" id="{06467FBB-504F-1AE4-8059-F3B1C6D30F1E}"/>
              </a:ext>
            </a:extLst>
          </p:cNvPr>
          <p:cNvSpPr txBox="1"/>
          <p:nvPr/>
        </p:nvSpPr>
        <p:spPr>
          <a:xfrm>
            <a:off x="6448926" y="757271"/>
            <a:ext cx="6096000" cy="461665"/>
          </a:xfrm>
          <a:prstGeom prst="rect">
            <a:avLst/>
          </a:prstGeom>
          <a:noFill/>
        </p:spPr>
        <p:txBody>
          <a:bodyPr wrap="square">
            <a:spAutoFit/>
          </a:bodyPr>
          <a:lstStyle/>
          <a:p>
            <a:r>
              <a:rPr lang="en-US" sz="2400" b="1" dirty="0">
                <a:highlight>
                  <a:srgbClr val="FFFF00"/>
                </a:highlight>
              </a:rPr>
              <a:t>Language Distribution </a:t>
            </a:r>
            <a:r>
              <a:rPr lang="en-US" sz="2400" b="1" dirty="0" err="1">
                <a:highlight>
                  <a:srgbClr val="FFFF00"/>
                </a:highlight>
              </a:rPr>
              <a:t>Treemap</a:t>
            </a:r>
            <a:endParaRPr lang="en-US" sz="2400" dirty="0">
              <a:highlight>
                <a:srgbClr val="FFFF00"/>
              </a:highlight>
            </a:endParaRPr>
          </a:p>
        </p:txBody>
      </p:sp>
      <p:sp>
        <p:nvSpPr>
          <p:cNvPr id="7" name="TextBox 6">
            <a:extLst>
              <a:ext uri="{FF2B5EF4-FFF2-40B4-BE49-F238E27FC236}">
                <a16:creationId xmlns:a16="http://schemas.microsoft.com/office/drawing/2014/main" id="{A8A6F066-0084-AD9D-F470-660E4C61151B}"/>
              </a:ext>
            </a:extLst>
          </p:cNvPr>
          <p:cNvSpPr txBox="1"/>
          <p:nvPr/>
        </p:nvSpPr>
        <p:spPr>
          <a:xfrm>
            <a:off x="6224337" y="1686602"/>
            <a:ext cx="6096000" cy="1200329"/>
          </a:xfrm>
          <a:prstGeom prst="rect">
            <a:avLst/>
          </a:prstGeom>
          <a:noFill/>
        </p:spPr>
        <p:txBody>
          <a:bodyPr wrap="square">
            <a:spAutoFit/>
          </a:bodyPr>
          <a:lstStyle/>
          <a:p>
            <a:r>
              <a:rPr lang="en-US" b="1" dirty="0"/>
              <a:t>The </a:t>
            </a:r>
            <a:r>
              <a:rPr lang="en-US" b="1" dirty="0" err="1"/>
              <a:t>treemap</a:t>
            </a:r>
            <a:r>
              <a:rPr lang="en-US" b="1" dirty="0"/>
              <a:t> reveals that English dominates the dataset, while Tamil, Korean, and Hindi contribute substantial regional diversity, and a large “Unknown” category highlights significant metadata gaps</a:t>
            </a:r>
          </a:p>
        </p:txBody>
      </p:sp>
      <p:sp>
        <p:nvSpPr>
          <p:cNvPr id="9" name="TextBox 8">
            <a:extLst>
              <a:ext uri="{FF2B5EF4-FFF2-40B4-BE49-F238E27FC236}">
                <a16:creationId xmlns:a16="http://schemas.microsoft.com/office/drawing/2014/main" id="{F15FCD15-F5BA-0244-2C99-0D430240AEF5}"/>
              </a:ext>
            </a:extLst>
          </p:cNvPr>
          <p:cNvSpPr txBox="1"/>
          <p:nvPr/>
        </p:nvSpPr>
        <p:spPr>
          <a:xfrm>
            <a:off x="837508" y="4119584"/>
            <a:ext cx="6160168" cy="523220"/>
          </a:xfrm>
          <a:prstGeom prst="rect">
            <a:avLst/>
          </a:prstGeom>
          <a:noFill/>
        </p:spPr>
        <p:txBody>
          <a:bodyPr wrap="square">
            <a:spAutoFit/>
          </a:bodyPr>
          <a:lstStyle/>
          <a:p>
            <a:r>
              <a:rPr lang="en-US" sz="2800" b="1" dirty="0">
                <a:highlight>
                  <a:srgbClr val="FFFF00"/>
                </a:highlight>
              </a:rPr>
              <a:t>Rare Languages (&lt;1%)</a:t>
            </a:r>
          </a:p>
        </p:txBody>
      </p:sp>
      <p:sp>
        <p:nvSpPr>
          <p:cNvPr id="11" name="TextBox 10">
            <a:extLst>
              <a:ext uri="{FF2B5EF4-FFF2-40B4-BE49-F238E27FC236}">
                <a16:creationId xmlns:a16="http://schemas.microsoft.com/office/drawing/2014/main" id="{F75F9B8E-3071-FE5A-2228-456628382F51}"/>
              </a:ext>
            </a:extLst>
          </p:cNvPr>
          <p:cNvSpPr txBox="1"/>
          <p:nvPr/>
        </p:nvSpPr>
        <p:spPr>
          <a:xfrm>
            <a:off x="3420979" y="79535"/>
            <a:ext cx="6296526" cy="584775"/>
          </a:xfrm>
          <a:prstGeom prst="rect">
            <a:avLst/>
          </a:prstGeom>
          <a:noFill/>
        </p:spPr>
        <p:txBody>
          <a:bodyPr wrap="square">
            <a:spAutoFit/>
          </a:bodyPr>
          <a:lstStyle/>
          <a:p>
            <a:r>
              <a:rPr lang="en-US" sz="3200" dirty="0">
                <a:solidFill>
                  <a:schemeClr val="accent2">
                    <a:lumMod val="50000"/>
                  </a:schemeClr>
                </a:solidFill>
                <a:latin typeface="Arial Black" panose="020B0A04020102020204" pitchFamily="34" charset="0"/>
              </a:rPr>
              <a:t>Univariate Analysis</a:t>
            </a:r>
          </a:p>
        </p:txBody>
      </p:sp>
    </p:spTree>
    <p:extLst>
      <p:ext uri="{BB962C8B-B14F-4D97-AF65-F5344CB8AC3E}">
        <p14:creationId xmlns:p14="http://schemas.microsoft.com/office/powerpoint/2010/main" val="30381197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05FD7D-CFF3-B0AE-44E6-35E1FE4F44BC}"/>
              </a:ext>
            </a:extLst>
          </p:cNvPr>
          <p:cNvSpPr txBox="1"/>
          <p:nvPr/>
        </p:nvSpPr>
        <p:spPr>
          <a:xfrm>
            <a:off x="0" y="1128282"/>
            <a:ext cx="6096000" cy="1569660"/>
          </a:xfrm>
          <a:prstGeom prst="rect">
            <a:avLst/>
          </a:prstGeom>
          <a:noFill/>
        </p:spPr>
        <p:txBody>
          <a:bodyPr wrap="square">
            <a:spAutoFit/>
          </a:bodyPr>
          <a:lstStyle/>
          <a:p>
            <a:r>
              <a:rPr lang="en-US" sz="4800" b="1" dirty="0">
                <a:solidFill>
                  <a:srgbClr val="92D050"/>
                </a:solidFill>
                <a:latin typeface="Arial Black" panose="020B0A04020102020204" pitchFamily="34" charset="0"/>
              </a:rPr>
              <a:t>What is Bivariate Analysis ?</a:t>
            </a:r>
          </a:p>
        </p:txBody>
      </p:sp>
      <p:sp>
        <p:nvSpPr>
          <p:cNvPr id="5" name="TextBox 4">
            <a:extLst>
              <a:ext uri="{FF2B5EF4-FFF2-40B4-BE49-F238E27FC236}">
                <a16:creationId xmlns:a16="http://schemas.microsoft.com/office/drawing/2014/main" id="{603FF704-951B-DC5D-710C-E83480CE64D9}"/>
              </a:ext>
            </a:extLst>
          </p:cNvPr>
          <p:cNvSpPr txBox="1"/>
          <p:nvPr/>
        </p:nvSpPr>
        <p:spPr>
          <a:xfrm>
            <a:off x="-40104" y="2821231"/>
            <a:ext cx="6136104" cy="2677656"/>
          </a:xfrm>
          <a:prstGeom prst="rect">
            <a:avLst/>
          </a:prstGeom>
          <a:noFill/>
        </p:spPr>
        <p:txBody>
          <a:bodyPr wrap="square">
            <a:spAutoFit/>
          </a:bodyPr>
          <a:lstStyle/>
          <a:p>
            <a:pPr>
              <a:buNone/>
            </a:pPr>
            <a:r>
              <a:rPr lang="en-US" sz="2400" b="1" dirty="0">
                <a:latin typeface="Aptos Narrow" panose="020B0004020202020204" pitchFamily="34" charset="0"/>
              </a:rPr>
              <a:t>Bivariate analysis is a statistical technique used to examine and analyze the relationship between two variables at the same time.</a:t>
            </a:r>
            <a:br>
              <a:rPr lang="en-US" sz="2400" b="1" dirty="0">
                <a:latin typeface="Aptos Narrow" panose="020B0004020202020204" pitchFamily="34" charset="0"/>
              </a:rPr>
            </a:br>
            <a:r>
              <a:rPr lang="en-US" sz="2400" b="1" dirty="0">
                <a:latin typeface="Aptos Narrow" panose="020B0004020202020204" pitchFamily="34" charset="0"/>
              </a:rPr>
              <a:t>It helps determine whether the variables are related, how strongly they are related, and what type of relationship (positive, negative, or none) exists between them.</a:t>
            </a:r>
          </a:p>
        </p:txBody>
      </p:sp>
      <p:pic>
        <p:nvPicPr>
          <p:cNvPr id="9" name="Picture 8">
            <a:extLst>
              <a:ext uri="{FF2B5EF4-FFF2-40B4-BE49-F238E27FC236}">
                <a16:creationId xmlns:a16="http://schemas.microsoft.com/office/drawing/2014/main" id="{93E23AD6-58C8-72E0-CF30-0E34FA581176}"/>
              </a:ext>
            </a:extLst>
          </p:cNvPr>
          <p:cNvPicPr>
            <a:picLocks noChangeAspect="1"/>
          </p:cNvPicPr>
          <p:nvPr/>
        </p:nvPicPr>
        <p:blipFill>
          <a:blip r:embed="rId2"/>
          <a:stretch>
            <a:fillRect/>
          </a:stretch>
        </p:blipFill>
        <p:spPr>
          <a:xfrm>
            <a:off x="6416842" y="1913112"/>
            <a:ext cx="5478422" cy="3059941"/>
          </a:xfrm>
          <a:prstGeom prst="rect">
            <a:avLst/>
          </a:prstGeom>
        </p:spPr>
      </p:pic>
    </p:spTree>
    <p:extLst>
      <p:ext uri="{BB962C8B-B14F-4D97-AF65-F5344CB8AC3E}">
        <p14:creationId xmlns:p14="http://schemas.microsoft.com/office/powerpoint/2010/main" val="2565431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2DC264-912A-69DF-E81C-8BE9F768BC67}"/>
              </a:ext>
            </a:extLst>
          </p:cNvPr>
          <p:cNvSpPr txBox="1"/>
          <p:nvPr/>
        </p:nvSpPr>
        <p:spPr>
          <a:xfrm>
            <a:off x="3949124" y="18024"/>
            <a:ext cx="6096000" cy="707886"/>
          </a:xfrm>
          <a:prstGeom prst="rect">
            <a:avLst/>
          </a:prstGeom>
          <a:noFill/>
        </p:spPr>
        <p:txBody>
          <a:bodyPr wrap="square">
            <a:spAutoFit/>
          </a:bodyPr>
          <a:lstStyle/>
          <a:p>
            <a:r>
              <a:rPr lang="en-US" sz="4000" b="1" dirty="0">
                <a:solidFill>
                  <a:schemeClr val="accent1">
                    <a:lumMod val="75000"/>
                  </a:schemeClr>
                </a:solidFill>
              </a:rPr>
              <a:t>Bivariate Analysis</a:t>
            </a:r>
          </a:p>
        </p:txBody>
      </p:sp>
      <p:pic>
        <p:nvPicPr>
          <p:cNvPr id="4098" name="Picture 2">
            <a:extLst>
              <a:ext uri="{FF2B5EF4-FFF2-40B4-BE49-F238E27FC236}">
                <a16:creationId xmlns:a16="http://schemas.microsoft.com/office/drawing/2014/main" id="{242887EE-5540-A870-F228-BD30166794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127" y="1632754"/>
            <a:ext cx="5068478" cy="3111872"/>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6C99D74F-EF1A-36E6-6739-A1219AF865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4531" y="1498031"/>
            <a:ext cx="5507342" cy="338131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88BC844-852F-36A6-738D-24E11CBFA679}"/>
              </a:ext>
            </a:extLst>
          </p:cNvPr>
          <p:cNvSpPr txBox="1"/>
          <p:nvPr/>
        </p:nvSpPr>
        <p:spPr>
          <a:xfrm>
            <a:off x="295122" y="4980563"/>
            <a:ext cx="5068478" cy="1477328"/>
          </a:xfrm>
          <a:prstGeom prst="rect">
            <a:avLst/>
          </a:prstGeom>
          <a:noFill/>
        </p:spPr>
        <p:txBody>
          <a:bodyPr wrap="square">
            <a:spAutoFit/>
          </a:bodyPr>
          <a:lstStyle/>
          <a:p>
            <a:pPr>
              <a:buNone/>
            </a:pPr>
            <a:r>
              <a:rPr lang="en-US" b="1" dirty="0">
                <a:solidFill>
                  <a:srgbClr val="711773"/>
                </a:solidFill>
              </a:rPr>
              <a:t>The scatterplot shows that danceability has an extremely weak and practically meaningless relationship with popularity (R² = 0.002), indicating that a song’s danceability has little influence on how popular it becomes.</a:t>
            </a:r>
          </a:p>
        </p:txBody>
      </p:sp>
      <p:sp>
        <p:nvSpPr>
          <p:cNvPr id="7" name="TextBox 6">
            <a:extLst>
              <a:ext uri="{FF2B5EF4-FFF2-40B4-BE49-F238E27FC236}">
                <a16:creationId xmlns:a16="http://schemas.microsoft.com/office/drawing/2014/main" id="{3FD03C61-6EFF-B282-71DD-CC06CC2AE771}"/>
              </a:ext>
            </a:extLst>
          </p:cNvPr>
          <p:cNvSpPr txBox="1"/>
          <p:nvPr/>
        </p:nvSpPr>
        <p:spPr>
          <a:xfrm>
            <a:off x="71632" y="976072"/>
            <a:ext cx="6120062" cy="523220"/>
          </a:xfrm>
          <a:prstGeom prst="rect">
            <a:avLst/>
          </a:prstGeom>
          <a:noFill/>
        </p:spPr>
        <p:txBody>
          <a:bodyPr wrap="square">
            <a:spAutoFit/>
          </a:bodyPr>
          <a:lstStyle/>
          <a:p>
            <a:r>
              <a:rPr lang="en-US" sz="2800" b="1" dirty="0">
                <a:latin typeface="Arial Black" panose="020B0A04020102020204" pitchFamily="34" charset="0"/>
              </a:rPr>
              <a:t>Popularity vs Danceability</a:t>
            </a:r>
          </a:p>
        </p:txBody>
      </p:sp>
      <p:sp>
        <p:nvSpPr>
          <p:cNvPr id="9" name="TextBox 8">
            <a:extLst>
              <a:ext uri="{FF2B5EF4-FFF2-40B4-BE49-F238E27FC236}">
                <a16:creationId xmlns:a16="http://schemas.microsoft.com/office/drawing/2014/main" id="{6EF7772E-93E4-B4A4-3E5F-7F21292A6F65}"/>
              </a:ext>
            </a:extLst>
          </p:cNvPr>
          <p:cNvSpPr txBox="1"/>
          <p:nvPr/>
        </p:nvSpPr>
        <p:spPr>
          <a:xfrm>
            <a:off x="7150770" y="935986"/>
            <a:ext cx="6120062" cy="523220"/>
          </a:xfrm>
          <a:prstGeom prst="rect">
            <a:avLst/>
          </a:prstGeom>
          <a:noFill/>
        </p:spPr>
        <p:txBody>
          <a:bodyPr wrap="square">
            <a:spAutoFit/>
          </a:bodyPr>
          <a:lstStyle/>
          <a:p>
            <a:r>
              <a:rPr lang="en-US" sz="2800" b="1" dirty="0">
                <a:latin typeface="Arial Black" panose="020B0A04020102020204" pitchFamily="34" charset="0"/>
              </a:rPr>
              <a:t>Popularity vs Energy </a:t>
            </a:r>
          </a:p>
        </p:txBody>
      </p:sp>
      <p:sp>
        <p:nvSpPr>
          <p:cNvPr id="11" name="TextBox 10">
            <a:extLst>
              <a:ext uri="{FF2B5EF4-FFF2-40B4-BE49-F238E27FC236}">
                <a16:creationId xmlns:a16="http://schemas.microsoft.com/office/drawing/2014/main" id="{C6F590A5-7967-C0EC-9531-6616EC279B01}"/>
              </a:ext>
            </a:extLst>
          </p:cNvPr>
          <p:cNvSpPr txBox="1"/>
          <p:nvPr/>
        </p:nvSpPr>
        <p:spPr>
          <a:xfrm>
            <a:off x="6434531" y="4930831"/>
            <a:ext cx="5837765" cy="1477328"/>
          </a:xfrm>
          <a:prstGeom prst="rect">
            <a:avLst/>
          </a:prstGeom>
          <a:noFill/>
        </p:spPr>
        <p:txBody>
          <a:bodyPr wrap="square">
            <a:spAutoFit/>
          </a:bodyPr>
          <a:lstStyle/>
          <a:p>
            <a:pPr>
              <a:buNone/>
            </a:pPr>
            <a:r>
              <a:rPr lang="en-US" b="1" dirty="0">
                <a:solidFill>
                  <a:srgbClr val="711773"/>
                </a:solidFill>
              </a:rPr>
              <a:t>While energy shows a weak positive correlation with popularity, the extremely low R² value (0.029) indicates that energy plays only a minor role in determining a song’s success, and popularity is mostly influenced by factors outside the audio feature itself</a:t>
            </a:r>
            <a:r>
              <a:rPr lang="en-US" dirty="0">
                <a:solidFill>
                  <a:srgbClr val="711773"/>
                </a:solidFill>
              </a:rPr>
              <a:t>.</a:t>
            </a:r>
          </a:p>
        </p:txBody>
      </p:sp>
      <p:cxnSp>
        <p:nvCxnSpPr>
          <p:cNvPr id="13" name="Straight Connector 12">
            <a:extLst>
              <a:ext uri="{FF2B5EF4-FFF2-40B4-BE49-F238E27FC236}">
                <a16:creationId xmlns:a16="http://schemas.microsoft.com/office/drawing/2014/main" id="{271FF4C7-137C-774E-8941-CF4891A8E22D}"/>
              </a:ext>
            </a:extLst>
          </p:cNvPr>
          <p:cNvCxnSpPr>
            <a:cxnSpLocks/>
          </p:cNvCxnSpPr>
          <p:nvPr/>
        </p:nvCxnSpPr>
        <p:spPr>
          <a:xfrm>
            <a:off x="5948855" y="809297"/>
            <a:ext cx="0" cy="6048703"/>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Connector 15">
            <a:extLst>
              <a:ext uri="{FF2B5EF4-FFF2-40B4-BE49-F238E27FC236}">
                <a16:creationId xmlns:a16="http://schemas.microsoft.com/office/drawing/2014/main" id="{30C723C7-2A63-EF72-A135-9A61659871F6}"/>
              </a:ext>
            </a:extLst>
          </p:cNvPr>
          <p:cNvCxnSpPr/>
          <p:nvPr/>
        </p:nvCxnSpPr>
        <p:spPr>
          <a:xfrm>
            <a:off x="0" y="809297"/>
            <a:ext cx="12192000"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885991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B8EC9C-5AC2-5BB9-7F19-D2212AFEB196}"/>
              </a:ext>
            </a:extLst>
          </p:cNvPr>
          <p:cNvPicPr>
            <a:picLocks noChangeAspect="1"/>
          </p:cNvPicPr>
          <p:nvPr/>
        </p:nvPicPr>
        <p:blipFill>
          <a:blip r:embed="rId2"/>
          <a:stretch>
            <a:fillRect/>
          </a:stretch>
        </p:blipFill>
        <p:spPr>
          <a:xfrm>
            <a:off x="128337" y="2039592"/>
            <a:ext cx="4895608" cy="2990882"/>
          </a:xfrm>
          <a:prstGeom prst="rect">
            <a:avLst/>
          </a:prstGeom>
        </p:spPr>
      </p:pic>
      <p:pic>
        <p:nvPicPr>
          <p:cNvPr id="5122" name="Picture 2">
            <a:extLst>
              <a:ext uri="{FF2B5EF4-FFF2-40B4-BE49-F238E27FC236}">
                <a16:creationId xmlns:a16="http://schemas.microsoft.com/office/drawing/2014/main" id="{E0437905-949E-0104-9242-1D8B11BF40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2450" y="1794691"/>
            <a:ext cx="5074568" cy="311561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A85C338-D2D9-5B80-FF18-9DE2A5D2E838}"/>
              </a:ext>
            </a:extLst>
          </p:cNvPr>
          <p:cNvSpPr txBox="1"/>
          <p:nvPr/>
        </p:nvSpPr>
        <p:spPr>
          <a:xfrm>
            <a:off x="6882063" y="5146088"/>
            <a:ext cx="5181600" cy="1477328"/>
          </a:xfrm>
          <a:prstGeom prst="rect">
            <a:avLst/>
          </a:prstGeom>
          <a:noFill/>
        </p:spPr>
        <p:txBody>
          <a:bodyPr wrap="square">
            <a:spAutoFit/>
          </a:bodyPr>
          <a:lstStyle/>
          <a:p>
            <a:r>
              <a:rPr lang="en-US" b="1" dirty="0" err="1">
                <a:solidFill>
                  <a:srgbClr val="FF3399"/>
                </a:solidFill>
              </a:rPr>
              <a:t>Acousticness</a:t>
            </a:r>
            <a:r>
              <a:rPr lang="en-US" b="1" dirty="0">
                <a:solidFill>
                  <a:srgbClr val="FF3399"/>
                </a:solidFill>
              </a:rPr>
              <a:t> shows a very weak negative correlation with popularity (R² = 0.023), indicating that while more electronic tracks tend to be slightly more popular, </a:t>
            </a:r>
            <a:r>
              <a:rPr lang="en-US" b="1" dirty="0" err="1">
                <a:solidFill>
                  <a:srgbClr val="FF3399"/>
                </a:solidFill>
              </a:rPr>
              <a:t>acousticness</a:t>
            </a:r>
            <a:r>
              <a:rPr lang="en-US" b="1" dirty="0">
                <a:solidFill>
                  <a:srgbClr val="FF3399"/>
                </a:solidFill>
              </a:rPr>
              <a:t> alone does not meaningfully determine a song’s success.</a:t>
            </a:r>
          </a:p>
        </p:txBody>
      </p:sp>
      <p:sp>
        <p:nvSpPr>
          <p:cNvPr id="7" name="TextBox 6">
            <a:extLst>
              <a:ext uri="{FF2B5EF4-FFF2-40B4-BE49-F238E27FC236}">
                <a16:creationId xmlns:a16="http://schemas.microsoft.com/office/drawing/2014/main" id="{9A174630-2D97-FC05-328E-8418E6209BEC}"/>
              </a:ext>
            </a:extLst>
          </p:cNvPr>
          <p:cNvSpPr txBox="1"/>
          <p:nvPr/>
        </p:nvSpPr>
        <p:spPr>
          <a:xfrm>
            <a:off x="559815" y="1236432"/>
            <a:ext cx="6096000" cy="461665"/>
          </a:xfrm>
          <a:prstGeom prst="rect">
            <a:avLst/>
          </a:prstGeom>
          <a:noFill/>
        </p:spPr>
        <p:txBody>
          <a:bodyPr wrap="square">
            <a:spAutoFit/>
          </a:bodyPr>
          <a:lstStyle/>
          <a:p>
            <a:r>
              <a:rPr lang="en-US" sz="2400" b="1" dirty="0">
                <a:latin typeface="Arial Black" panose="020B0A04020102020204" pitchFamily="34" charset="0"/>
              </a:rPr>
              <a:t>Popularity vs Loudness </a:t>
            </a:r>
          </a:p>
        </p:txBody>
      </p:sp>
      <p:sp>
        <p:nvSpPr>
          <p:cNvPr id="9" name="TextBox 8">
            <a:extLst>
              <a:ext uri="{FF2B5EF4-FFF2-40B4-BE49-F238E27FC236}">
                <a16:creationId xmlns:a16="http://schemas.microsoft.com/office/drawing/2014/main" id="{C885908B-DE75-3352-02E5-1E845BFFA91E}"/>
              </a:ext>
            </a:extLst>
          </p:cNvPr>
          <p:cNvSpPr txBox="1"/>
          <p:nvPr/>
        </p:nvSpPr>
        <p:spPr>
          <a:xfrm>
            <a:off x="128337" y="5251799"/>
            <a:ext cx="5181600" cy="1477328"/>
          </a:xfrm>
          <a:prstGeom prst="rect">
            <a:avLst/>
          </a:prstGeom>
          <a:noFill/>
        </p:spPr>
        <p:txBody>
          <a:bodyPr wrap="square">
            <a:spAutoFit/>
          </a:bodyPr>
          <a:lstStyle/>
          <a:p>
            <a:r>
              <a:rPr lang="en-US" dirty="0">
                <a:solidFill>
                  <a:srgbClr val="FF3399"/>
                </a:solidFill>
              </a:rPr>
              <a:t>The plot shows a flat, near-zero relationship between loudness and popularity (R² = 0.000), indicating that a track’s volume has no meaningful effect on its success, and extreme invalid loudness values distort the visualization</a:t>
            </a:r>
            <a:r>
              <a:rPr lang="en-US" dirty="0"/>
              <a:t>.</a:t>
            </a:r>
          </a:p>
        </p:txBody>
      </p:sp>
      <p:sp>
        <p:nvSpPr>
          <p:cNvPr id="11" name="TextBox 10">
            <a:extLst>
              <a:ext uri="{FF2B5EF4-FFF2-40B4-BE49-F238E27FC236}">
                <a16:creationId xmlns:a16="http://schemas.microsoft.com/office/drawing/2014/main" id="{77395DDA-B950-F2DD-7660-14B7881FE760}"/>
              </a:ext>
            </a:extLst>
          </p:cNvPr>
          <p:cNvSpPr txBox="1"/>
          <p:nvPr/>
        </p:nvSpPr>
        <p:spPr>
          <a:xfrm>
            <a:off x="7107759" y="1097240"/>
            <a:ext cx="6096000" cy="461665"/>
          </a:xfrm>
          <a:prstGeom prst="rect">
            <a:avLst/>
          </a:prstGeom>
          <a:noFill/>
        </p:spPr>
        <p:txBody>
          <a:bodyPr wrap="square">
            <a:spAutoFit/>
          </a:bodyPr>
          <a:lstStyle/>
          <a:p>
            <a:r>
              <a:rPr lang="en-US" sz="2400" dirty="0">
                <a:latin typeface="Arial Black" panose="020B0A04020102020204" pitchFamily="34" charset="0"/>
              </a:rPr>
              <a:t>Popularity vs </a:t>
            </a:r>
            <a:r>
              <a:rPr lang="en-US" sz="2400" dirty="0" err="1">
                <a:latin typeface="Arial Black" panose="020B0A04020102020204" pitchFamily="34" charset="0"/>
              </a:rPr>
              <a:t>Acousticness</a:t>
            </a:r>
            <a:endParaRPr lang="en-US" sz="2400" dirty="0">
              <a:latin typeface="Arial Black" panose="020B0A04020102020204" pitchFamily="34" charset="0"/>
            </a:endParaRPr>
          </a:p>
        </p:txBody>
      </p:sp>
      <p:cxnSp>
        <p:nvCxnSpPr>
          <p:cNvPr id="13" name="Straight Connector 12">
            <a:extLst>
              <a:ext uri="{FF2B5EF4-FFF2-40B4-BE49-F238E27FC236}">
                <a16:creationId xmlns:a16="http://schemas.microsoft.com/office/drawing/2014/main" id="{E753AD28-C224-C5CF-4AA6-63AA2D206011}"/>
              </a:ext>
            </a:extLst>
          </p:cNvPr>
          <p:cNvCxnSpPr/>
          <p:nvPr/>
        </p:nvCxnSpPr>
        <p:spPr>
          <a:xfrm>
            <a:off x="5854262" y="1019503"/>
            <a:ext cx="0" cy="5838497"/>
          </a:xfrm>
          <a:prstGeom prst="line">
            <a:avLst/>
          </a:prstGeom>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5B6CF470-BF7F-8734-79AC-C877B0C75B7E}"/>
              </a:ext>
            </a:extLst>
          </p:cNvPr>
          <p:cNvCxnSpPr/>
          <p:nvPr/>
        </p:nvCxnSpPr>
        <p:spPr>
          <a:xfrm>
            <a:off x="0" y="945931"/>
            <a:ext cx="12192000" cy="0"/>
          </a:xfrm>
          <a:prstGeom prst="line">
            <a:avLst/>
          </a:prstGeom>
        </p:spPr>
        <p:style>
          <a:lnRef idx="3">
            <a:schemeClr val="dk1"/>
          </a:lnRef>
          <a:fillRef idx="0">
            <a:schemeClr val="dk1"/>
          </a:fillRef>
          <a:effectRef idx="2">
            <a:schemeClr val="dk1"/>
          </a:effectRef>
          <a:fontRef idx="minor">
            <a:schemeClr val="tx1"/>
          </a:fontRef>
        </p:style>
      </p:cxnSp>
      <p:sp>
        <p:nvSpPr>
          <p:cNvPr id="17" name="TextBox 16">
            <a:extLst>
              <a:ext uri="{FF2B5EF4-FFF2-40B4-BE49-F238E27FC236}">
                <a16:creationId xmlns:a16="http://schemas.microsoft.com/office/drawing/2014/main" id="{BE964A94-F976-DD87-72AE-1B8A206252A3}"/>
              </a:ext>
            </a:extLst>
          </p:cNvPr>
          <p:cNvSpPr txBox="1"/>
          <p:nvPr/>
        </p:nvSpPr>
        <p:spPr>
          <a:xfrm>
            <a:off x="3909709" y="137386"/>
            <a:ext cx="6626772" cy="646331"/>
          </a:xfrm>
          <a:prstGeom prst="rect">
            <a:avLst/>
          </a:prstGeom>
          <a:noFill/>
        </p:spPr>
        <p:txBody>
          <a:bodyPr wrap="square">
            <a:spAutoFit/>
          </a:bodyPr>
          <a:lstStyle/>
          <a:p>
            <a:r>
              <a:rPr lang="en-US" sz="3600" b="1" dirty="0">
                <a:solidFill>
                  <a:schemeClr val="accent1">
                    <a:lumMod val="75000"/>
                  </a:schemeClr>
                </a:solidFill>
                <a:latin typeface="Arial Black" panose="020B0A04020102020204" pitchFamily="34" charset="0"/>
              </a:rPr>
              <a:t>Bivariate Analysis</a:t>
            </a:r>
          </a:p>
        </p:txBody>
      </p:sp>
    </p:spTree>
    <p:extLst>
      <p:ext uri="{BB962C8B-B14F-4D97-AF65-F5344CB8AC3E}">
        <p14:creationId xmlns:p14="http://schemas.microsoft.com/office/powerpoint/2010/main" val="41681737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A6EE9416-02AA-0507-2A6E-7D788B2785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598" y="1700463"/>
            <a:ext cx="5107718" cy="412282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ABC0D0E-D552-5889-49F4-34A62A0F9C33}"/>
              </a:ext>
            </a:extLst>
          </p:cNvPr>
          <p:cNvSpPr txBox="1"/>
          <p:nvPr/>
        </p:nvSpPr>
        <p:spPr>
          <a:xfrm>
            <a:off x="5909609" y="765772"/>
            <a:ext cx="5591497" cy="1938992"/>
          </a:xfrm>
          <a:prstGeom prst="rect">
            <a:avLst/>
          </a:prstGeom>
          <a:noFill/>
        </p:spPr>
        <p:txBody>
          <a:bodyPr wrap="square">
            <a:spAutoFit/>
          </a:bodyPr>
          <a:lstStyle/>
          <a:p>
            <a:r>
              <a:rPr lang="en-US" sz="2000" b="1" dirty="0"/>
              <a:t>The correlation matrix shows meaningful relationships between musical features (energy, danceability, valence, </a:t>
            </a:r>
            <a:r>
              <a:rPr lang="en-US" sz="2000" b="1" dirty="0" err="1"/>
              <a:t>acousticness</a:t>
            </a:r>
            <a:r>
              <a:rPr lang="en-US" sz="2000" b="1" dirty="0"/>
              <a:t>), but these features have almost no linear relationship with popularity, confirming that popularity is driven by external factors rather than audio characteristics</a:t>
            </a:r>
            <a:r>
              <a:rPr lang="en-US" sz="2000" dirty="0"/>
              <a:t>.</a:t>
            </a:r>
          </a:p>
        </p:txBody>
      </p:sp>
      <p:sp>
        <p:nvSpPr>
          <p:cNvPr id="5" name="TextBox 4">
            <a:extLst>
              <a:ext uri="{FF2B5EF4-FFF2-40B4-BE49-F238E27FC236}">
                <a16:creationId xmlns:a16="http://schemas.microsoft.com/office/drawing/2014/main" id="{1B6AAD43-54D3-74ED-EC87-51010EDD3277}"/>
              </a:ext>
            </a:extLst>
          </p:cNvPr>
          <p:cNvSpPr txBox="1"/>
          <p:nvPr/>
        </p:nvSpPr>
        <p:spPr>
          <a:xfrm>
            <a:off x="5909609" y="2885761"/>
            <a:ext cx="6442812" cy="4278094"/>
          </a:xfrm>
          <a:prstGeom prst="rect">
            <a:avLst/>
          </a:prstGeom>
          <a:noFill/>
        </p:spPr>
        <p:txBody>
          <a:bodyPr wrap="square">
            <a:spAutoFit/>
          </a:bodyPr>
          <a:lstStyle/>
          <a:p>
            <a:pPr>
              <a:buNone/>
            </a:pPr>
            <a:r>
              <a:rPr lang="en-US" sz="2800" b="1" dirty="0">
                <a:highlight>
                  <a:srgbClr val="FFFF00"/>
                </a:highlight>
              </a:rPr>
              <a:t>Takeaways</a:t>
            </a:r>
          </a:p>
          <a:p>
            <a:pPr>
              <a:buNone/>
            </a:pPr>
            <a:endParaRPr lang="en-US" sz="2800" b="1" dirty="0">
              <a:highlight>
                <a:srgbClr val="FFFF00"/>
              </a:highlight>
            </a:endParaRPr>
          </a:p>
          <a:p>
            <a:pPr>
              <a:buNone/>
            </a:pPr>
            <a:r>
              <a:rPr lang="en-US" sz="2000" b="1" dirty="0"/>
              <a:t>🎯 1. Popularity is not explained by audio features.</a:t>
            </a:r>
          </a:p>
          <a:p>
            <a:pPr>
              <a:buNone/>
            </a:pPr>
            <a:r>
              <a:rPr lang="en-US" sz="2000" b="1" dirty="0"/>
              <a:t>All correlations with popularity are extremely small.</a:t>
            </a:r>
          </a:p>
          <a:p>
            <a:pPr>
              <a:buNone/>
            </a:pPr>
            <a:r>
              <a:rPr lang="en-US" sz="2000" b="1" dirty="0"/>
              <a:t>🎯 2. Audio features strongly correlate with each other in musically meaningful ways.</a:t>
            </a:r>
          </a:p>
          <a:p>
            <a:pPr>
              <a:buNone/>
            </a:pPr>
            <a:r>
              <a:rPr lang="en-US" sz="2000" b="1" dirty="0"/>
              <a:t>🎯 3. Energy, valence, and danceability form a tightly connected cluster of upbeat, happy, dance-friendly music attributes.</a:t>
            </a:r>
          </a:p>
          <a:p>
            <a:pPr>
              <a:buNone/>
            </a:pPr>
            <a:r>
              <a:rPr lang="en-US" sz="2000" b="1" dirty="0"/>
              <a:t>🎯 4. </a:t>
            </a:r>
            <a:r>
              <a:rPr lang="en-US" sz="2000" b="1" dirty="0" err="1"/>
              <a:t>Acousticness</a:t>
            </a:r>
            <a:r>
              <a:rPr lang="en-US" sz="2000" b="1" dirty="0"/>
              <a:t> is the opposite of energy/danceability — aligns with softer, quieter genres.</a:t>
            </a:r>
          </a:p>
          <a:p>
            <a:pPr>
              <a:buNone/>
            </a:pPr>
            <a:br>
              <a:rPr lang="en-US" dirty="0"/>
            </a:br>
            <a:endParaRPr lang="en-US" dirty="0"/>
          </a:p>
        </p:txBody>
      </p:sp>
      <p:sp>
        <p:nvSpPr>
          <p:cNvPr id="7" name="TextBox 6">
            <a:extLst>
              <a:ext uri="{FF2B5EF4-FFF2-40B4-BE49-F238E27FC236}">
                <a16:creationId xmlns:a16="http://schemas.microsoft.com/office/drawing/2014/main" id="{5B05AAEA-BC00-6BEC-2D8A-3793FBDC7179}"/>
              </a:ext>
            </a:extLst>
          </p:cNvPr>
          <p:cNvSpPr txBox="1"/>
          <p:nvPr/>
        </p:nvSpPr>
        <p:spPr>
          <a:xfrm>
            <a:off x="4327359" y="0"/>
            <a:ext cx="6184230" cy="584775"/>
          </a:xfrm>
          <a:prstGeom prst="rect">
            <a:avLst/>
          </a:prstGeom>
          <a:noFill/>
        </p:spPr>
        <p:txBody>
          <a:bodyPr wrap="square">
            <a:spAutoFit/>
          </a:bodyPr>
          <a:lstStyle/>
          <a:p>
            <a:r>
              <a:rPr lang="en-US" sz="3200" b="1" dirty="0">
                <a:solidFill>
                  <a:schemeClr val="accent1">
                    <a:lumMod val="75000"/>
                  </a:schemeClr>
                </a:solidFill>
                <a:latin typeface="Arial Black" panose="020B0A04020102020204" pitchFamily="34" charset="0"/>
              </a:rPr>
              <a:t>Bivariate Analysis</a:t>
            </a:r>
          </a:p>
        </p:txBody>
      </p:sp>
    </p:spTree>
    <p:extLst>
      <p:ext uri="{BB962C8B-B14F-4D97-AF65-F5344CB8AC3E}">
        <p14:creationId xmlns:p14="http://schemas.microsoft.com/office/powerpoint/2010/main" val="4220682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5366E382-9C3E-D950-C216-EF402749C6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926" y="1179690"/>
            <a:ext cx="3753853" cy="3914227"/>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095AF21E-778C-9892-C596-D8DA4595AA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7331" y="1513769"/>
            <a:ext cx="5703292" cy="302481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38D8072-B4A8-9C91-7CAB-F69B55FA5D17}"/>
              </a:ext>
            </a:extLst>
          </p:cNvPr>
          <p:cNvSpPr txBox="1"/>
          <p:nvPr/>
        </p:nvSpPr>
        <p:spPr>
          <a:xfrm>
            <a:off x="5562739" y="672650"/>
            <a:ext cx="6096000" cy="707886"/>
          </a:xfrm>
          <a:prstGeom prst="rect">
            <a:avLst/>
          </a:prstGeom>
          <a:noFill/>
        </p:spPr>
        <p:txBody>
          <a:bodyPr wrap="square">
            <a:spAutoFit/>
          </a:bodyPr>
          <a:lstStyle/>
          <a:p>
            <a:pPr>
              <a:buNone/>
            </a:pPr>
            <a:r>
              <a:rPr lang="en-US" sz="2000" b="1" dirty="0">
                <a:latin typeface="Arial Black" panose="020B0A04020102020204" pitchFamily="34" charset="0"/>
              </a:rPr>
              <a:t>Analysis of the Mutual Information (MI) Scores with Popularity</a:t>
            </a:r>
          </a:p>
        </p:txBody>
      </p:sp>
      <p:sp>
        <p:nvSpPr>
          <p:cNvPr id="5" name="TextBox 4">
            <a:extLst>
              <a:ext uri="{FF2B5EF4-FFF2-40B4-BE49-F238E27FC236}">
                <a16:creationId xmlns:a16="http://schemas.microsoft.com/office/drawing/2014/main" id="{E5629685-6BE4-4EF4-76E1-7C0B0C725EF4}"/>
              </a:ext>
            </a:extLst>
          </p:cNvPr>
          <p:cNvSpPr txBox="1"/>
          <p:nvPr/>
        </p:nvSpPr>
        <p:spPr>
          <a:xfrm>
            <a:off x="5251946" y="4691126"/>
            <a:ext cx="7391399" cy="2031325"/>
          </a:xfrm>
          <a:prstGeom prst="rect">
            <a:avLst/>
          </a:prstGeom>
          <a:noFill/>
        </p:spPr>
        <p:txBody>
          <a:bodyPr wrap="square">
            <a:spAutoFit/>
          </a:bodyPr>
          <a:lstStyle/>
          <a:p>
            <a:pPr>
              <a:buNone/>
            </a:pPr>
            <a:r>
              <a:rPr lang="en-US" b="1" dirty="0"/>
              <a:t>The MI chart reveals that popularity cannot be predicted from any single feature, but:</a:t>
            </a:r>
          </a:p>
          <a:p>
            <a:pPr>
              <a:buNone/>
            </a:pPr>
            <a:r>
              <a:rPr lang="en-US" b="1" dirty="0"/>
              <a:t> Loudness, duration, and tempo provide the strongest clues</a:t>
            </a:r>
            <a:br>
              <a:rPr lang="en-US" b="1" dirty="0"/>
            </a:br>
            <a:r>
              <a:rPr lang="en-US" b="1" dirty="0" err="1"/>
              <a:t>Acousticness</a:t>
            </a:r>
            <a:r>
              <a:rPr lang="en-US" b="1" dirty="0"/>
              <a:t>, valence, </a:t>
            </a:r>
            <a:r>
              <a:rPr lang="en-US" b="1" dirty="0" err="1"/>
              <a:t>speechiness</a:t>
            </a:r>
            <a:r>
              <a:rPr lang="en-US" b="1" dirty="0"/>
              <a:t>, and energy have moderate impact</a:t>
            </a:r>
            <a:br>
              <a:rPr lang="en-US" b="1" dirty="0"/>
            </a:br>
            <a:r>
              <a:rPr lang="en-US" b="1" dirty="0"/>
              <a:t>Danceability is surprisingly weak</a:t>
            </a:r>
          </a:p>
          <a:p>
            <a:pPr>
              <a:buNone/>
            </a:pPr>
            <a:r>
              <a:rPr lang="en-US" b="1" dirty="0"/>
              <a:t>Together, these insights help form a data-driven understanding of what influences popularity in Spotify tracks</a:t>
            </a:r>
            <a:r>
              <a:rPr lang="en-US" dirty="0"/>
              <a:t>.</a:t>
            </a:r>
          </a:p>
        </p:txBody>
      </p:sp>
      <p:sp>
        <p:nvSpPr>
          <p:cNvPr id="7" name="TextBox 6">
            <a:extLst>
              <a:ext uri="{FF2B5EF4-FFF2-40B4-BE49-F238E27FC236}">
                <a16:creationId xmlns:a16="http://schemas.microsoft.com/office/drawing/2014/main" id="{2B8DCCA5-3870-84CE-3110-A99088638EBC}"/>
              </a:ext>
            </a:extLst>
          </p:cNvPr>
          <p:cNvSpPr txBox="1"/>
          <p:nvPr/>
        </p:nvSpPr>
        <p:spPr>
          <a:xfrm>
            <a:off x="946485" y="716458"/>
            <a:ext cx="6320588" cy="400110"/>
          </a:xfrm>
          <a:prstGeom prst="rect">
            <a:avLst/>
          </a:prstGeom>
          <a:noFill/>
        </p:spPr>
        <p:txBody>
          <a:bodyPr wrap="square">
            <a:spAutoFit/>
          </a:bodyPr>
          <a:lstStyle/>
          <a:p>
            <a:r>
              <a:rPr lang="en-US" sz="2000" dirty="0">
                <a:latin typeface="Arial Black" panose="020B0A04020102020204" pitchFamily="34" charset="0"/>
              </a:rPr>
              <a:t>PAIRPLOT (Sample) </a:t>
            </a:r>
          </a:p>
        </p:txBody>
      </p:sp>
      <p:sp>
        <p:nvSpPr>
          <p:cNvPr id="9" name="TextBox 8">
            <a:extLst>
              <a:ext uri="{FF2B5EF4-FFF2-40B4-BE49-F238E27FC236}">
                <a16:creationId xmlns:a16="http://schemas.microsoft.com/office/drawing/2014/main" id="{4025B326-3AF9-D0C3-F468-30CBFF5F8895}"/>
              </a:ext>
            </a:extLst>
          </p:cNvPr>
          <p:cNvSpPr txBox="1"/>
          <p:nvPr/>
        </p:nvSpPr>
        <p:spPr>
          <a:xfrm>
            <a:off x="144378" y="5213893"/>
            <a:ext cx="4170947" cy="1477328"/>
          </a:xfrm>
          <a:prstGeom prst="rect">
            <a:avLst/>
          </a:prstGeom>
          <a:noFill/>
        </p:spPr>
        <p:txBody>
          <a:bodyPr wrap="square">
            <a:spAutoFit/>
          </a:bodyPr>
          <a:lstStyle/>
          <a:p>
            <a:r>
              <a:rPr lang="en-US" b="1" dirty="0"/>
              <a:t>The </a:t>
            </a:r>
            <a:r>
              <a:rPr lang="en-US" b="1" dirty="0" err="1"/>
              <a:t>pairplot</a:t>
            </a:r>
            <a:r>
              <a:rPr lang="en-US" b="1" dirty="0"/>
              <a:t> shows the relationships among five key Spotify audio features—popularity, danceability, energy, loudness, and </a:t>
            </a:r>
            <a:r>
              <a:rPr lang="en-US" b="1" dirty="0" err="1"/>
              <a:t>acousticness</a:t>
            </a:r>
            <a:r>
              <a:rPr lang="en-US" b="1" dirty="0"/>
              <a:t>—using scatterplots and distribution plots.</a:t>
            </a:r>
          </a:p>
        </p:txBody>
      </p:sp>
      <p:sp>
        <p:nvSpPr>
          <p:cNvPr id="11" name="TextBox 10">
            <a:extLst>
              <a:ext uri="{FF2B5EF4-FFF2-40B4-BE49-F238E27FC236}">
                <a16:creationId xmlns:a16="http://schemas.microsoft.com/office/drawing/2014/main" id="{69841CE5-3C25-D3B1-7E1C-2A02386B0F5F}"/>
              </a:ext>
            </a:extLst>
          </p:cNvPr>
          <p:cNvSpPr txBox="1"/>
          <p:nvPr/>
        </p:nvSpPr>
        <p:spPr>
          <a:xfrm>
            <a:off x="3313662" y="-33669"/>
            <a:ext cx="6321972" cy="646331"/>
          </a:xfrm>
          <a:prstGeom prst="rect">
            <a:avLst/>
          </a:prstGeom>
          <a:noFill/>
        </p:spPr>
        <p:txBody>
          <a:bodyPr wrap="square">
            <a:spAutoFit/>
          </a:bodyPr>
          <a:lstStyle/>
          <a:p>
            <a:r>
              <a:rPr lang="en-US" sz="3600" b="1" dirty="0">
                <a:solidFill>
                  <a:schemeClr val="accent1">
                    <a:lumMod val="75000"/>
                  </a:schemeClr>
                </a:solidFill>
                <a:latin typeface="Arial Black" panose="020B0A04020102020204" pitchFamily="34" charset="0"/>
              </a:rPr>
              <a:t>Bivariate Analysis</a:t>
            </a:r>
          </a:p>
        </p:txBody>
      </p:sp>
    </p:spTree>
    <p:extLst>
      <p:ext uri="{BB962C8B-B14F-4D97-AF65-F5344CB8AC3E}">
        <p14:creationId xmlns:p14="http://schemas.microsoft.com/office/powerpoint/2010/main" val="1494751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B683BE-605A-CEC3-106F-9E56E1AD0764}"/>
              </a:ext>
            </a:extLst>
          </p:cNvPr>
          <p:cNvSpPr txBox="1"/>
          <p:nvPr/>
        </p:nvSpPr>
        <p:spPr>
          <a:xfrm>
            <a:off x="882315" y="1221121"/>
            <a:ext cx="6096000" cy="2123658"/>
          </a:xfrm>
          <a:prstGeom prst="rect">
            <a:avLst/>
          </a:prstGeom>
          <a:noFill/>
        </p:spPr>
        <p:txBody>
          <a:bodyPr wrap="square">
            <a:spAutoFit/>
          </a:bodyPr>
          <a:lstStyle/>
          <a:p>
            <a:r>
              <a:rPr lang="en-US" sz="4400" dirty="0">
                <a:solidFill>
                  <a:schemeClr val="accent1">
                    <a:lumMod val="75000"/>
                  </a:schemeClr>
                </a:solidFill>
                <a:latin typeface="Arial Black" panose="020B0A04020102020204" pitchFamily="34" charset="0"/>
              </a:rPr>
              <a:t>What is Multivariate Analysis ?</a:t>
            </a:r>
          </a:p>
        </p:txBody>
      </p:sp>
      <p:sp>
        <p:nvSpPr>
          <p:cNvPr id="5" name="TextBox 4">
            <a:extLst>
              <a:ext uri="{FF2B5EF4-FFF2-40B4-BE49-F238E27FC236}">
                <a16:creationId xmlns:a16="http://schemas.microsoft.com/office/drawing/2014/main" id="{4FCDE60B-22C6-6A43-24AB-4759F4C9B39E}"/>
              </a:ext>
            </a:extLst>
          </p:cNvPr>
          <p:cNvSpPr txBox="1"/>
          <p:nvPr/>
        </p:nvSpPr>
        <p:spPr>
          <a:xfrm>
            <a:off x="417095" y="3513222"/>
            <a:ext cx="4427621" cy="2862322"/>
          </a:xfrm>
          <a:prstGeom prst="rect">
            <a:avLst/>
          </a:prstGeom>
          <a:noFill/>
        </p:spPr>
        <p:txBody>
          <a:bodyPr wrap="square">
            <a:spAutoFit/>
          </a:bodyPr>
          <a:lstStyle/>
          <a:p>
            <a:pPr>
              <a:buNone/>
            </a:pPr>
            <a:r>
              <a:rPr lang="en-US" sz="2000" b="1" dirty="0"/>
              <a:t>Multivariate analysis is a statistical technique used to examine three or more variables simultaneously to understand complex relationships, patterns, and interactions among them.</a:t>
            </a:r>
            <a:br>
              <a:rPr lang="en-US" sz="2000" b="1" dirty="0"/>
            </a:br>
            <a:r>
              <a:rPr lang="en-US" sz="2000" b="1" dirty="0"/>
              <a:t>It helps identify how multiple factors together influence outcomes, uncover hidden structures in data, and build prediction or classification models.</a:t>
            </a:r>
          </a:p>
        </p:txBody>
      </p:sp>
      <p:pic>
        <p:nvPicPr>
          <p:cNvPr id="9" name="Picture 8">
            <a:extLst>
              <a:ext uri="{FF2B5EF4-FFF2-40B4-BE49-F238E27FC236}">
                <a16:creationId xmlns:a16="http://schemas.microsoft.com/office/drawing/2014/main" id="{AC7E39E1-B630-7C15-9C9D-D0892BEDEC8C}"/>
              </a:ext>
            </a:extLst>
          </p:cNvPr>
          <p:cNvPicPr>
            <a:picLocks noChangeAspect="1"/>
          </p:cNvPicPr>
          <p:nvPr/>
        </p:nvPicPr>
        <p:blipFill>
          <a:blip r:embed="rId2"/>
          <a:stretch>
            <a:fillRect/>
          </a:stretch>
        </p:blipFill>
        <p:spPr>
          <a:xfrm>
            <a:off x="4844716" y="1701321"/>
            <a:ext cx="7200664" cy="4019183"/>
          </a:xfrm>
          <a:prstGeom prst="rect">
            <a:avLst/>
          </a:prstGeom>
        </p:spPr>
      </p:pic>
    </p:spTree>
    <p:extLst>
      <p:ext uri="{BB962C8B-B14F-4D97-AF65-F5344CB8AC3E}">
        <p14:creationId xmlns:p14="http://schemas.microsoft.com/office/powerpoint/2010/main" val="61319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D96CA8-520E-DA0A-A032-194456B271D9}"/>
              </a:ext>
            </a:extLst>
          </p:cNvPr>
          <p:cNvSpPr txBox="1"/>
          <p:nvPr/>
        </p:nvSpPr>
        <p:spPr>
          <a:xfrm>
            <a:off x="3392905" y="-34103"/>
            <a:ext cx="6096000" cy="584775"/>
          </a:xfrm>
          <a:prstGeom prst="rect">
            <a:avLst/>
          </a:prstGeom>
          <a:noFill/>
        </p:spPr>
        <p:txBody>
          <a:bodyPr wrap="square">
            <a:spAutoFit/>
          </a:bodyPr>
          <a:lstStyle/>
          <a:p>
            <a:r>
              <a:rPr lang="en-US" sz="3200" b="1" dirty="0">
                <a:solidFill>
                  <a:srgbClr val="6600CC"/>
                </a:solidFill>
                <a:latin typeface="Arial Black" panose="020B0A04020102020204" pitchFamily="34" charset="0"/>
              </a:rPr>
              <a:t>Multivariate Analysis</a:t>
            </a:r>
          </a:p>
        </p:txBody>
      </p:sp>
      <p:pic>
        <p:nvPicPr>
          <p:cNvPr id="8194" name="Picture 2">
            <a:extLst>
              <a:ext uri="{FF2B5EF4-FFF2-40B4-BE49-F238E27FC236}">
                <a16:creationId xmlns:a16="http://schemas.microsoft.com/office/drawing/2014/main" id="{16C89837-F153-3AE2-7A14-6B87849CF3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08398"/>
            <a:ext cx="5702969" cy="36576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8FD2E3B-FF52-D2B8-A24F-F839396920D0}"/>
              </a:ext>
            </a:extLst>
          </p:cNvPr>
          <p:cNvSpPr txBox="1"/>
          <p:nvPr/>
        </p:nvSpPr>
        <p:spPr>
          <a:xfrm>
            <a:off x="6785811" y="673783"/>
            <a:ext cx="5406189" cy="5078313"/>
          </a:xfrm>
          <a:prstGeom prst="rect">
            <a:avLst/>
          </a:prstGeom>
          <a:noFill/>
        </p:spPr>
        <p:txBody>
          <a:bodyPr wrap="square">
            <a:spAutoFit/>
          </a:bodyPr>
          <a:lstStyle/>
          <a:p>
            <a:pPr>
              <a:buNone/>
            </a:pPr>
            <a:r>
              <a:rPr lang="en-US" b="1" dirty="0">
                <a:highlight>
                  <a:srgbClr val="FFFF00"/>
                </a:highlight>
              </a:rPr>
              <a:t>Key Insights</a:t>
            </a:r>
          </a:p>
          <a:p>
            <a:pPr>
              <a:buNone/>
            </a:pPr>
            <a:endParaRPr lang="en-US" b="1" dirty="0">
              <a:highlight>
                <a:srgbClr val="FFFF00"/>
              </a:highlight>
            </a:endParaRPr>
          </a:p>
          <a:p>
            <a:pPr>
              <a:buNone/>
            </a:pPr>
            <a:r>
              <a:rPr lang="en-US" b="1" dirty="0">
                <a:solidFill>
                  <a:srgbClr val="FF3399"/>
                </a:solidFill>
              </a:rPr>
              <a:t>Two types of songs dominate popularity:</a:t>
            </a:r>
          </a:p>
          <a:p>
            <a:pPr>
              <a:buNone/>
            </a:pPr>
            <a:endParaRPr lang="en-US" b="1" dirty="0"/>
          </a:p>
          <a:p>
            <a:pPr>
              <a:buFont typeface="+mj-lt"/>
              <a:buAutoNum type="arabicPeriod"/>
            </a:pPr>
            <a:r>
              <a:rPr lang="en-US" b="1" dirty="0"/>
              <a:t>Low-energy, low-valence ballads / mellow songs</a:t>
            </a:r>
            <a:endParaRPr lang="en-US" dirty="0"/>
          </a:p>
          <a:p>
            <a:pPr>
              <a:buFont typeface="+mj-lt"/>
              <a:buAutoNum type="arabicPeriod"/>
            </a:pPr>
            <a:r>
              <a:rPr lang="en-US" b="1" dirty="0"/>
              <a:t>High-energy, high-valence dance-pop hits</a:t>
            </a:r>
            <a:endParaRPr lang="en-US" dirty="0"/>
          </a:p>
          <a:p>
            <a:pPr>
              <a:buNone/>
            </a:pPr>
            <a:r>
              <a:rPr lang="en-US" dirty="0"/>
              <a:t>This means there are </a:t>
            </a:r>
            <a:r>
              <a:rPr lang="en-US" i="1" dirty="0"/>
              <a:t>two successful extremes</a:t>
            </a:r>
            <a:r>
              <a:rPr lang="en-US" dirty="0"/>
              <a:t>:</a:t>
            </a:r>
          </a:p>
          <a:p>
            <a:pPr>
              <a:buFont typeface="Arial" panose="020B0604020202020204" pitchFamily="34" charset="0"/>
              <a:buChar char="•"/>
            </a:pPr>
            <a:r>
              <a:rPr lang="en-US" b="1" dirty="0"/>
              <a:t>Sad / calm / emotional music</a:t>
            </a:r>
            <a:endParaRPr lang="en-US" dirty="0"/>
          </a:p>
          <a:p>
            <a:pPr>
              <a:buFont typeface="Arial" panose="020B0604020202020204" pitchFamily="34" charset="0"/>
              <a:buChar char="•"/>
            </a:pPr>
            <a:r>
              <a:rPr lang="en-US" b="1" dirty="0"/>
              <a:t>Happy / energetic / danceable music</a:t>
            </a:r>
            <a:endParaRPr lang="en-US" dirty="0"/>
          </a:p>
          <a:p>
            <a:pPr>
              <a:buNone/>
            </a:pPr>
            <a:br>
              <a:rPr lang="en-US" dirty="0"/>
            </a:br>
            <a:r>
              <a:rPr lang="en-US" b="1" dirty="0">
                <a:solidFill>
                  <a:srgbClr val="FF3399"/>
                </a:solidFill>
              </a:rPr>
              <a:t>Mid-range songs also perform well</a:t>
            </a:r>
          </a:p>
          <a:p>
            <a:pPr>
              <a:buNone/>
            </a:pPr>
            <a:r>
              <a:rPr lang="en-US" dirty="0"/>
              <a:t>Combinations involving:</a:t>
            </a:r>
          </a:p>
          <a:p>
            <a:pPr>
              <a:buFont typeface="Arial" panose="020B0604020202020204" pitchFamily="34" charset="0"/>
              <a:buChar char="•"/>
            </a:pPr>
            <a:r>
              <a:rPr lang="en-US" dirty="0"/>
              <a:t>Medium energy</a:t>
            </a:r>
          </a:p>
          <a:p>
            <a:pPr>
              <a:buFont typeface="Arial" panose="020B0604020202020204" pitchFamily="34" charset="0"/>
              <a:buChar char="•"/>
            </a:pPr>
            <a:r>
              <a:rPr lang="en-US" dirty="0"/>
              <a:t>Medium–high valence</a:t>
            </a:r>
          </a:p>
          <a:p>
            <a:pPr>
              <a:buFont typeface="Arial" panose="020B0604020202020204" pitchFamily="34" charset="0"/>
              <a:buChar char="•"/>
            </a:pPr>
            <a:r>
              <a:rPr lang="en-US" dirty="0"/>
              <a:t>High danceability</a:t>
            </a:r>
            <a:br>
              <a:rPr lang="en-US" dirty="0"/>
            </a:br>
            <a:r>
              <a:rPr lang="en-US" dirty="0"/>
              <a:t>still consistently appear in the top 6.</a:t>
            </a:r>
          </a:p>
          <a:p>
            <a:pPr>
              <a:buNone/>
            </a:pPr>
            <a:br>
              <a:rPr lang="en-US" dirty="0"/>
            </a:br>
            <a:endParaRPr lang="en-US" dirty="0"/>
          </a:p>
        </p:txBody>
      </p:sp>
      <p:sp>
        <p:nvSpPr>
          <p:cNvPr id="7" name="TextBox 6">
            <a:extLst>
              <a:ext uri="{FF2B5EF4-FFF2-40B4-BE49-F238E27FC236}">
                <a16:creationId xmlns:a16="http://schemas.microsoft.com/office/drawing/2014/main" id="{5AE24D23-46ED-7423-010C-B2924E0E5848}"/>
              </a:ext>
            </a:extLst>
          </p:cNvPr>
          <p:cNvSpPr txBox="1"/>
          <p:nvPr/>
        </p:nvSpPr>
        <p:spPr>
          <a:xfrm>
            <a:off x="256674" y="4606103"/>
            <a:ext cx="11373852" cy="2031325"/>
          </a:xfrm>
          <a:prstGeom prst="rect">
            <a:avLst/>
          </a:prstGeom>
          <a:noFill/>
        </p:spPr>
        <p:txBody>
          <a:bodyPr wrap="square">
            <a:spAutoFit/>
          </a:bodyPr>
          <a:lstStyle/>
          <a:p>
            <a:pPr>
              <a:buNone/>
            </a:pPr>
            <a:r>
              <a:rPr lang="en-US" b="1" dirty="0">
                <a:solidFill>
                  <a:srgbClr val="FF3399"/>
                </a:solidFill>
              </a:rPr>
              <a:t>Danceability is not the strongest indicator of popularity</a:t>
            </a:r>
          </a:p>
          <a:p>
            <a:pPr>
              <a:buNone/>
            </a:pPr>
            <a:r>
              <a:rPr lang="en-US" dirty="0"/>
              <a:t>Both low and high danceability categories appear in popular songs.</a:t>
            </a:r>
            <a:br>
              <a:rPr lang="en-US" dirty="0"/>
            </a:br>
            <a:r>
              <a:rPr lang="en-US" dirty="0"/>
              <a:t>This suggests danceability </a:t>
            </a:r>
            <a:r>
              <a:rPr lang="en-US" b="1" dirty="0"/>
              <a:t>alone</a:t>
            </a:r>
            <a:r>
              <a:rPr lang="en-US" dirty="0"/>
              <a:t> doesn’t determine popularity.</a:t>
            </a:r>
          </a:p>
          <a:p>
            <a:pPr>
              <a:buNone/>
            </a:pPr>
            <a:br>
              <a:rPr lang="en-US" dirty="0"/>
            </a:br>
            <a:r>
              <a:rPr lang="en-US" b="1" dirty="0"/>
              <a:t> </a:t>
            </a:r>
            <a:r>
              <a:rPr lang="en-US" b="1" dirty="0">
                <a:solidFill>
                  <a:srgbClr val="FF3399"/>
                </a:solidFill>
              </a:rPr>
              <a:t>Energy &amp; Valence together matter more</a:t>
            </a:r>
          </a:p>
          <a:p>
            <a:pPr>
              <a:buNone/>
            </a:pPr>
            <a:r>
              <a:rPr lang="en-US" dirty="0"/>
              <a:t>Combinations with </a:t>
            </a:r>
            <a:r>
              <a:rPr lang="en-US" b="1" dirty="0"/>
              <a:t>high energy + high valence</a:t>
            </a:r>
            <a:r>
              <a:rPr lang="en-US" dirty="0"/>
              <a:t> frequently show up in popular songs, matching the trend of upbeat radio hits.</a:t>
            </a:r>
          </a:p>
        </p:txBody>
      </p:sp>
    </p:spTree>
    <p:extLst>
      <p:ext uri="{BB962C8B-B14F-4D97-AF65-F5344CB8AC3E}">
        <p14:creationId xmlns:p14="http://schemas.microsoft.com/office/powerpoint/2010/main" val="25606250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6BDAAF1C-7A3F-9085-6AEB-A4CACE2A23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80632"/>
            <a:ext cx="5101389" cy="400918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FD8C6C7-AEDF-73C3-4B5F-1C57AD06A875}"/>
              </a:ext>
            </a:extLst>
          </p:cNvPr>
          <p:cNvSpPr txBox="1"/>
          <p:nvPr/>
        </p:nvSpPr>
        <p:spPr>
          <a:xfrm>
            <a:off x="5549374" y="1680632"/>
            <a:ext cx="6931383" cy="3693319"/>
          </a:xfrm>
          <a:prstGeom prst="rect">
            <a:avLst/>
          </a:prstGeom>
          <a:noFill/>
        </p:spPr>
        <p:txBody>
          <a:bodyPr wrap="square">
            <a:spAutoFit/>
          </a:bodyPr>
          <a:lstStyle/>
          <a:p>
            <a:pPr>
              <a:buNone/>
            </a:pPr>
            <a:r>
              <a:rPr lang="en-US" b="1" dirty="0">
                <a:highlight>
                  <a:srgbClr val="FFFF00"/>
                </a:highlight>
              </a:rPr>
              <a:t>Overall Insight</a:t>
            </a:r>
          </a:p>
          <a:p>
            <a:pPr>
              <a:buNone/>
            </a:pPr>
            <a:endParaRPr lang="en-US" b="1" dirty="0">
              <a:highlight>
                <a:srgbClr val="FFFF00"/>
              </a:highlight>
            </a:endParaRPr>
          </a:p>
          <a:p>
            <a:pPr>
              <a:buNone/>
            </a:pPr>
            <a:r>
              <a:rPr lang="en-US" b="1" dirty="0">
                <a:solidFill>
                  <a:srgbClr val="002060"/>
                </a:solidFill>
              </a:rPr>
              <a:t>The PCA + clustering tells us that Spotify tracks can be divided into three broad audio identities</a:t>
            </a:r>
            <a:r>
              <a:rPr lang="en-US" b="1" dirty="0"/>
              <a:t>:</a:t>
            </a:r>
          </a:p>
          <a:p>
            <a:pPr>
              <a:buNone/>
            </a:pPr>
            <a:endParaRPr lang="en-US" dirty="0"/>
          </a:p>
          <a:p>
            <a:pPr>
              <a:buNone/>
            </a:pPr>
            <a:r>
              <a:rPr lang="en-US" b="1" dirty="0">
                <a:solidFill>
                  <a:schemeClr val="accent1">
                    <a:lumMod val="75000"/>
                  </a:schemeClr>
                </a:solidFill>
              </a:rPr>
              <a:t>Cluster 0 (Blue) – Mainstream songs</a:t>
            </a:r>
          </a:p>
          <a:p>
            <a:pPr>
              <a:buNone/>
            </a:pPr>
            <a:r>
              <a:rPr lang="en-US" dirty="0"/>
              <a:t>Balanced </a:t>
            </a:r>
            <a:r>
              <a:rPr lang="en-US" dirty="0" err="1"/>
              <a:t>acousticness</a:t>
            </a:r>
            <a:r>
              <a:rPr lang="en-US" dirty="0"/>
              <a:t>, </a:t>
            </a:r>
            <a:r>
              <a:rPr lang="en-US" dirty="0" err="1"/>
              <a:t>instrumentalness</a:t>
            </a:r>
            <a:r>
              <a:rPr lang="en-US" dirty="0"/>
              <a:t>, and </a:t>
            </a:r>
            <a:r>
              <a:rPr lang="en-US" dirty="0" err="1"/>
              <a:t>speechiness</a:t>
            </a:r>
            <a:r>
              <a:rPr lang="en-US" dirty="0"/>
              <a:t>.</a:t>
            </a:r>
          </a:p>
          <a:p>
            <a:pPr>
              <a:buNone/>
            </a:pPr>
            <a:endParaRPr lang="en-US" dirty="0"/>
          </a:p>
          <a:p>
            <a:pPr>
              <a:buNone/>
            </a:pPr>
            <a:r>
              <a:rPr lang="en-US" b="1" dirty="0">
                <a:solidFill>
                  <a:srgbClr val="FF3300"/>
                </a:solidFill>
              </a:rPr>
              <a:t>Cluster 1 (Orange) – Speech-heavy songs</a:t>
            </a:r>
          </a:p>
          <a:p>
            <a:pPr>
              <a:buNone/>
            </a:pPr>
            <a:r>
              <a:rPr lang="en-US" dirty="0"/>
              <a:t>Hip-hop, rap, spoken-word, tracks with higher vocal presence.</a:t>
            </a:r>
          </a:p>
          <a:p>
            <a:pPr>
              <a:buNone/>
            </a:pPr>
            <a:endParaRPr lang="en-US" dirty="0"/>
          </a:p>
          <a:p>
            <a:pPr>
              <a:buNone/>
            </a:pPr>
            <a:r>
              <a:rPr lang="en-US" b="1" dirty="0">
                <a:solidFill>
                  <a:srgbClr val="00B050"/>
                </a:solidFill>
              </a:rPr>
              <a:t>Cluster 2 (Green) – Acoustic &amp; Instrumental songs</a:t>
            </a:r>
          </a:p>
          <a:p>
            <a:pPr>
              <a:buNone/>
            </a:pPr>
            <a:r>
              <a:rPr lang="en-US" dirty="0"/>
              <a:t>High </a:t>
            </a:r>
            <a:r>
              <a:rPr lang="en-US" dirty="0" err="1"/>
              <a:t>acousticness</a:t>
            </a:r>
            <a:r>
              <a:rPr lang="en-US" dirty="0"/>
              <a:t>, likely calm, organic, or instrumental tracks</a:t>
            </a:r>
          </a:p>
        </p:txBody>
      </p:sp>
      <p:sp>
        <p:nvSpPr>
          <p:cNvPr id="8" name="TextBox 7">
            <a:extLst>
              <a:ext uri="{FF2B5EF4-FFF2-40B4-BE49-F238E27FC236}">
                <a16:creationId xmlns:a16="http://schemas.microsoft.com/office/drawing/2014/main" id="{DD8755E0-7E6B-2C0C-21C1-ADDEB9FF8AAE}"/>
              </a:ext>
            </a:extLst>
          </p:cNvPr>
          <p:cNvSpPr txBox="1"/>
          <p:nvPr/>
        </p:nvSpPr>
        <p:spPr>
          <a:xfrm>
            <a:off x="3978444" y="352926"/>
            <a:ext cx="6096000" cy="584775"/>
          </a:xfrm>
          <a:prstGeom prst="rect">
            <a:avLst/>
          </a:prstGeom>
          <a:noFill/>
        </p:spPr>
        <p:txBody>
          <a:bodyPr wrap="square">
            <a:spAutoFit/>
          </a:bodyPr>
          <a:lstStyle/>
          <a:p>
            <a:r>
              <a:rPr lang="en-US" sz="3200" b="1" dirty="0">
                <a:solidFill>
                  <a:srgbClr val="6600CC"/>
                </a:solidFill>
                <a:latin typeface="Arial Black" panose="020B0A04020102020204" pitchFamily="34" charset="0"/>
              </a:rPr>
              <a:t>Multivariate Analysis</a:t>
            </a:r>
          </a:p>
        </p:txBody>
      </p:sp>
    </p:spTree>
    <p:extLst>
      <p:ext uri="{BB962C8B-B14F-4D97-AF65-F5344CB8AC3E}">
        <p14:creationId xmlns:p14="http://schemas.microsoft.com/office/powerpoint/2010/main" val="13248167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C98A1CEF-9332-10FC-78A2-89C4D62CEC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258" y="978054"/>
            <a:ext cx="4756752" cy="335661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DE7F4D5-E287-6045-50AB-20C13D5596E4}"/>
              </a:ext>
            </a:extLst>
          </p:cNvPr>
          <p:cNvSpPr txBox="1"/>
          <p:nvPr/>
        </p:nvSpPr>
        <p:spPr>
          <a:xfrm>
            <a:off x="5847348" y="655024"/>
            <a:ext cx="6096000" cy="461665"/>
          </a:xfrm>
          <a:prstGeom prst="rect">
            <a:avLst/>
          </a:prstGeom>
          <a:noFill/>
        </p:spPr>
        <p:txBody>
          <a:bodyPr wrap="square">
            <a:spAutoFit/>
          </a:bodyPr>
          <a:lstStyle/>
          <a:p>
            <a:r>
              <a:rPr lang="en-US" sz="2400" b="1" dirty="0">
                <a:solidFill>
                  <a:srgbClr val="FF0000"/>
                </a:solidFill>
              </a:rPr>
              <a:t>Correlation Heatmap Analysis</a:t>
            </a:r>
          </a:p>
        </p:txBody>
      </p:sp>
      <p:sp>
        <p:nvSpPr>
          <p:cNvPr id="6" name="TextBox 5">
            <a:extLst>
              <a:ext uri="{FF2B5EF4-FFF2-40B4-BE49-F238E27FC236}">
                <a16:creationId xmlns:a16="http://schemas.microsoft.com/office/drawing/2014/main" id="{7C1C21A1-5377-2B1E-1DF2-DB17E5AD132A}"/>
              </a:ext>
            </a:extLst>
          </p:cNvPr>
          <p:cNvSpPr txBox="1"/>
          <p:nvPr/>
        </p:nvSpPr>
        <p:spPr>
          <a:xfrm>
            <a:off x="5798954" y="1179550"/>
            <a:ext cx="6192788" cy="2308324"/>
          </a:xfrm>
          <a:prstGeom prst="rect">
            <a:avLst/>
          </a:prstGeom>
          <a:noFill/>
        </p:spPr>
        <p:txBody>
          <a:bodyPr wrap="square">
            <a:spAutoFit/>
          </a:bodyPr>
          <a:lstStyle/>
          <a:p>
            <a:pPr>
              <a:buFont typeface="Arial" panose="020B0604020202020204" pitchFamily="34" charset="0"/>
              <a:buChar char="•"/>
            </a:pPr>
            <a:r>
              <a:rPr lang="en-US" b="1" dirty="0"/>
              <a:t>Popularity has no strong audio correlation.</a:t>
            </a:r>
          </a:p>
          <a:p>
            <a:pPr>
              <a:buFont typeface="Arial" panose="020B0604020202020204" pitchFamily="34" charset="0"/>
              <a:buChar char="•"/>
            </a:pPr>
            <a:r>
              <a:rPr lang="en-US" b="1" dirty="0"/>
              <a:t>Energy, loudness, and danceability form a high-energy cluster.</a:t>
            </a:r>
          </a:p>
          <a:p>
            <a:pPr>
              <a:buFont typeface="Arial" panose="020B0604020202020204" pitchFamily="34" charset="0"/>
              <a:buChar char="•"/>
            </a:pPr>
            <a:r>
              <a:rPr lang="en-US" b="1" dirty="0" err="1"/>
              <a:t>Acousticness</a:t>
            </a:r>
            <a:r>
              <a:rPr lang="en-US" b="1" dirty="0"/>
              <a:t> and </a:t>
            </a:r>
            <a:r>
              <a:rPr lang="en-US" b="1" dirty="0" err="1"/>
              <a:t>instrumentalness</a:t>
            </a:r>
            <a:r>
              <a:rPr lang="en-US" b="1" dirty="0"/>
              <a:t> form a soft/acoustic cluster.</a:t>
            </a:r>
          </a:p>
          <a:p>
            <a:pPr>
              <a:buFont typeface="Arial" panose="020B0604020202020204" pitchFamily="34" charset="0"/>
              <a:buChar char="•"/>
            </a:pPr>
            <a:r>
              <a:rPr lang="en-US" b="1" dirty="0"/>
              <a:t>Most features are weakly connected → dataset has high diversity.</a:t>
            </a:r>
          </a:p>
          <a:p>
            <a:pPr>
              <a:buFont typeface="Arial" panose="020B0604020202020204" pitchFamily="34" charset="0"/>
              <a:buChar char="•"/>
            </a:pPr>
            <a:r>
              <a:rPr lang="en-US" b="1" dirty="0"/>
              <a:t>Heatmap reveals the underlying structure but confirms that predicting popularity from audio alone is challenging.</a:t>
            </a:r>
          </a:p>
        </p:txBody>
      </p:sp>
      <p:pic>
        <p:nvPicPr>
          <p:cNvPr id="7" name="Picture 2">
            <a:extLst>
              <a:ext uri="{FF2B5EF4-FFF2-40B4-BE49-F238E27FC236}">
                <a16:creationId xmlns:a16="http://schemas.microsoft.com/office/drawing/2014/main" id="{88189CC9-5E27-4629-DB54-B24D572FFC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2041" y="3689371"/>
            <a:ext cx="4456387" cy="316862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64D2DB2-750B-0706-3564-B70503DC79B8}"/>
              </a:ext>
            </a:extLst>
          </p:cNvPr>
          <p:cNvSpPr txBox="1"/>
          <p:nvPr/>
        </p:nvSpPr>
        <p:spPr>
          <a:xfrm>
            <a:off x="200258" y="4474334"/>
            <a:ext cx="7395411" cy="400110"/>
          </a:xfrm>
          <a:prstGeom prst="rect">
            <a:avLst/>
          </a:prstGeom>
          <a:noFill/>
        </p:spPr>
        <p:txBody>
          <a:bodyPr wrap="square">
            <a:spAutoFit/>
          </a:bodyPr>
          <a:lstStyle/>
          <a:p>
            <a:r>
              <a:rPr lang="en-US" sz="2000" b="1" dirty="0" err="1">
                <a:solidFill>
                  <a:srgbClr val="FF0000"/>
                </a:solidFill>
              </a:rPr>
              <a:t>Pairplot</a:t>
            </a:r>
            <a:r>
              <a:rPr lang="en-US" sz="2000" b="1" dirty="0">
                <a:solidFill>
                  <a:srgbClr val="FF0000"/>
                </a:solidFill>
              </a:rPr>
              <a:t> of Audio Features vs Popularity — Analysis</a:t>
            </a:r>
          </a:p>
        </p:txBody>
      </p:sp>
      <p:sp>
        <p:nvSpPr>
          <p:cNvPr id="11" name="TextBox 10">
            <a:extLst>
              <a:ext uri="{FF2B5EF4-FFF2-40B4-BE49-F238E27FC236}">
                <a16:creationId xmlns:a16="http://schemas.microsoft.com/office/drawing/2014/main" id="{AF88FC43-511C-95AE-5EF4-2849E0F12FD1}"/>
              </a:ext>
            </a:extLst>
          </p:cNvPr>
          <p:cNvSpPr txBox="1"/>
          <p:nvPr/>
        </p:nvSpPr>
        <p:spPr>
          <a:xfrm>
            <a:off x="200258" y="4874444"/>
            <a:ext cx="7395410" cy="1754326"/>
          </a:xfrm>
          <a:prstGeom prst="rect">
            <a:avLst/>
          </a:prstGeom>
          <a:noFill/>
        </p:spPr>
        <p:txBody>
          <a:bodyPr wrap="square">
            <a:spAutoFit/>
          </a:bodyPr>
          <a:lstStyle/>
          <a:p>
            <a:pPr>
              <a:buNone/>
            </a:pPr>
            <a:r>
              <a:rPr lang="en-US" dirty="0"/>
              <a:t>The </a:t>
            </a:r>
            <a:r>
              <a:rPr lang="en-US" dirty="0" err="1"/>
              <a:t>pairplot</a:t>
            </a:r>
            <a:r>
              <a:rPr lang="en-US" dirty="0"/>
              <a:t> reveals that while Spotify audio features show clear internal structure—such as energy being tied to loudness and danceability—these characteristics have only </a:t>
            </a:r>
            <a:r>
              <a:rPr lang="en-US" b="1" dirty="0"/>
              <a:t>weak relationships with popularity</a:t>
            </a:r>
            <a:r>
              <a:rPr lang="en-US" dirty="0"/>
              <a:t>. Popular tracks exist across the full spectrum of danceability, energy, and valence. This suggests that song success relies far more on </a:t>
            </a:r>
            <a:r>
              <a:rPr lang="en-US" b="1" dirty="0"/>
              <a:t>external factors</a:t>
            </a:r>
            <a:r>
              <a:rPr lang="en-US" dirty="0"/>
              <a:t> (artist recognition, playlist exposure, marketing) than on raw acoustic properties.</a:t>
            </a:r>
          </a:p>
        </p:txBody>
      </p:sp>
      <p:sp>
        <p:nvSpPr>
          <p:cNvPr id="13" name="TextBox 12">
            <a:extLst>
              <a:ext uri="{FF2B5EF4-FFF2-40B4-BE49-F238E27FC236}">
                <a16:creationId xmlns:a16="http://schemas.microsoft.com/office/drawing/2014/main" id="{29991286-FE5A-1C5E-D776-52907B17AC63}"/>
              </a:ext>
            </a:extLst>
          </p:cNvPr>
          <p:cNvSpPr txBox="1"/>
          <p:nvPr/>
        </p:nvSpPr>
        <p:spPr>
          <a:xfrm>
            <a:off x="3048000" y="7388"/>
            <a:ext cx="6096000" cy="584775"/>
          </a:xfrm>
          <a:prstGeom prst="rect">
            <a:avLst/>
          </a:prstGeom>
          <a:noFill/>
        </p:spPr>
        <p:txBody>
          <a:bodyPr wrap="square">
            <a:spAutoFit/>
          </a:bodyPr>
          <a:lstStyle/>
          <a:p>
            <a:r>
              <a:rPr lang="en-US" sz="3200" b="1" dirty="0">
                <a:solidFill>
                  <a:srgbClr val="6600CC"/>
                </a:solidFill>
                <a:latin typeface="Arial Black" panose="020B0A04020102020204" pitchFamily="34" charset="0"/>
              </a:rPr>
              <a:t>Multivariate Analysis</a:t>
            </a:r>
          </a:p>
        </p:txBody>
      </p:sp>
    </p:spTree>
    <p:extLst>
      <p:ext uri="{BB962C8B-B14F-4D97-AF65-F5344CB8AC3E}">
        <p14:creationId xmlns:p14="http://schemas.microsoft.com/office/powerpoint/2010/main" val="19952137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335A4B8C-8B97-4AD4-2453-875C82EDC4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160" y="750185"/>
            <a:ext cx="4794585" cy="416000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0FCECCD-26C7-656F-576F-04E8D5FC08EC}"/>
              </a:ext>
            </a:extLst>
          </p:cNvPr>
          <p:cNvSpPr txBox="1"/>
          <p:nvPr/>
        </p:nvSpPr>
        <p:spPr>
          <a:xfrm>
            <a:off x="771681" y="4910192"/>
            <a:ext cx="6096000" cy="369332"/>
          </a:xfrm>
          <a:prstGeom prst="rect">
            <a:avLst/>
          </a:prstGeom>
          <a:noFill/>
        </p:spPr>
        <p:txBody>
          <a:bodyPr wrap="square">
            <a:spAutoFit/>
          </a:bodyPr>
          <a:lstStyle/>
          <a:p>
            <a:r>
              <a:rPr lang="en-US" b="1" dirty="0">
                <a:solidFill>
                  <a:srgbClr val="FF0000"/>
                </a:solidFill>
              </a:rPr>
              <a:t>3-D Feature Interaction</a:t>
            </a:r>
          </a:p>
        </p:txBody>
      </p:sp>
      <p:sp>
        <p:nvSpPr>
          <p:cNvPr id="5" name="Rectangle 1">
            <a:extLst>
              <a:ext uri="{FF2B5EF4-FFF2-40B4-BE49-F238E27FC236}">
                <a16:creationId xmlns:a16="http://schemas.microsoft.com/office/drawing/2014/main" id="{9BAF8482-1C67-93C5-7301-ADF8AE625230}"/>
              </a:ext>
            </a:extLst>
          </p:cNvPr>
          <p:cNvSpPr>
            <a:spLocks noChangeArrowheads="1"/>
          </p:cNvSpPr>
          <p:nvPr/>
        </p:nvSpPr>
        <p:spPr bwMode="auto">
          <a:xfrm>
            <a:off x="192160" y="5351101"/>
            <a:ext cx="492824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Axes: </a:t>
            </a:r>
            <a:r>
              <a:rPr kumimoji="0" lang="en-US" altLang="en-US" sz="1600" b="1" i="0" u="none" strike="noStrike" cap="none" normalizeH="0" baseline="0" dirty="0">
                <a:ln>
                  <a:noFill/>
                </a:ln>
                <a:solidFill>
                  <a:schemeClr val="tx1"/>
                </a:solidFill>
                <a:effectLst/>
                <a:latin typeface="Arial" panose="020B0604020202020204" pitchFamily="34" charset="0"/>
              </a:rPr>
              <a:t>X = Danceability</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a:ln>
                  <a:noFill/>
                </a:ln>
                <a:solidFill>
                  <a:schemeClr val="tx1"/>
                </a:solidFill>
                <a:effectLst/>
                <a:latin typeface="Arial" panose="020B0604020202020204" pitchFamily="34" charset="0"/>
              </a:rPr>
              <a:t>Y = Energy</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a:ln>
                  <a:noFill/>
                </a:ln>
                <a:solidFill>
                  <a:schemeClr val="tx1"/>
                </a:solidFill>
                <a:effectLst/>
                <a:latin typeface="Arial" panose="020B0604020202020204" pitchFamily="34" charset="0"/>
              </a:rPr>
              <a:t>Z = Valence</a:t>
            </a:r>
            <a:r>
              <a:rPr kumimoji="0" lang="en-US" altLang="en-US" sz="1600" b="0" i="0" u="none" strike="noStrike" cap="none" normalizeH="0" baseline="0" dirty="0">
                <a:ln>
                  <a:noFill/>
                </a:ln>
                <a:solidFill>
                  <a:schemeClr val="tx1"/>
                </a:solidFill>
                <a:effectLst/>
                <a:latin typeface="Arial" panose="020B0604020202020204" pitchFamily="34" charset="0"/>
              </a:rPr>
              <a:t> (0 → 1 scale).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Color = </a:t>
            </a:r>
            <a:r>
              <a:rPr kumimoji="0" lang="en-US" altLang="en-US" sz="1600" b="1" i="0" u="none" strike="noStrike" cap="none" normalizeH="0" baseline="0" dirty="0">
                <a:ln>
                  <a:noFill/>
                </a:ln>
                <a:solidFill>
                  <a:schemeClr val="tx1"/>
                </a:solidFill>
                <a:effectLst/>
                <a:latin typeface="Arial" panose="020B0604020202020204" pitchFamily="34" charset="0"/>
              </a:rPr>
              <a:t>Popularity</a:t>
            </a:r>
            <a:r>
              <a:rPr kumimoji="0" lang="en-US" altLang="en-US" sz="1600" b="0" i="0" u="none" strike="noStrike" cap="none" normalizeH="0" baseline="0" dirty="0">
                <a:ln>
                  <a:noFill/>
                </a:ln>
                <a:solidFill>
                  <a:schemeClr val="tx1"/>
                </a:solidFill>
                <a:effectLst/>
                <a:latin typeface="Arial" panose="020B0604020202020204" pitchFamily="34" charset="0"/>
              </a:rPr>
              <a:t> (purple = low, yellow = high).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Plot shows a dense cloud of songs filling a roughly triangular / wedge-shaped  volume in this 3-D space</a:t>
            </a:r>
          </a:p>
        </p:txBody>
      </p:sp>
      <p:sp>
        <p:nvSpPr>
          <p:cNvPr id="7" name="TextBox 6">
            <a:extLst>
              <a:ext uri="{FF2B5EF4-FFF2-40B4-BE49-F238E27FC236}">
                <a16:creationId xmlns:a16="http://schemas.microsoft.com/office/drawing/2014/main" id="{131DD7AE-13F1-575F-57B6-C203FEBD5A37}"/>
              </a:ext>
            </a:extLst>
          </p:cNvPr>
          <p:cNvSpPr txBox="1"/>
          <p:nvPr/>
        </p:nvSpPr>
        <p:spPr>
          <a:xfrm>
            <a:off x="5481733" y="678609"/>
            <a:ext cx="6643437" cy="6463308"/>
          </a:xfrm>
          <a:prstGeom prst="rect">
            <a:avLst/>
          </a:prstGeom>
          <a:noFill/>
        </p:spPr>
        <p:txBody>
          <a:bodyPr wrap="square">
            <a:spAutoFit/>
          </a:bodyPr>
          <a:lstStyle/>
          <a:p>
            <a:pPr>
              <a:buNone/>
            </a:pPr>
            <a:r>
              <a:rPr lang="en-US" b="1" dirty="0"/>
              <a:t>Main observations</a:t>
            </a:r>
          </a:p>
          <a:p>
            <a:pPr>
              <a:buNone/>
            </a:pPr>
            <a:r>
              <a:rPr lang="en-US" b="1" dirty="0">
                <a:solidFill>
                  <a:srgbClr val="92D050"/>
                </a:solidFill>
              </a:rPr>
              <a:t>1. Positive relationships among the three features</a:t>
            </a:r>
          </a:p>
          <a:p>
            <a:pPr>
              <a:buFont typeface="Arial" panose="020B0604020202020204" pitchFamily="34" charset="0"/>
              <a:buChar char="•"/>
            </a:pPr>
            <a:r>
              <a:rPr lang="en-US" dirty="0"/>
              <a:t>There is a </a:t>
            </a:r>
            <a:r>
              <a:rPr lang="en-US" b="1" dirty="0"/>
              <a:t>clear positive trend</a:t>
            </a:r>
            <a:r>
              <a:rPr lang="en-US" dirty="0"/>
              <a:t> across the three axes: as </a:t>
            </a:r>
            <a:r>
              <a:rPr lang="en-US" b="1" dirty="0"/>
              <a:t>danceability ↑</a:t>
            </a:r>
            <a:r>
              <a:rPr lang="en-US" dirty="0"/>
              <a:t>, </a:t>
            </a:r>
            <a:r>
              <a:rPr lang="en-US" b="1" dirty="0"/>
              <a:t>energy ↑</a:t>
            </a:r>
            <a:r>
              <a:rPr lang="en-US" dirty="0"/>
              <a:t> and </a:t>
            </a:r>
            <a:r>
              <a:rPr lang="en-US" b="1" dirty="0"/>
              <a:t>valence ↑</a:t>
            </a:r>
            <a:r>
              <a:rPr lang="en-US" dirty="0"/>
              <a:t> tend to increase too.</a:t>
            </a:r>
          </a:p>
          <a:p>
            <a:pPr>
              <a:buFont typeface="Arial" panose="020B0604020202020204" pitchFamily="34" charset="0"/>
              <a:buChar char="•"/>
            </a:pPr>
            <a:r>
              <a:rPr lang="en-US" dirty="0"/>
              <a:t>This creates a diagonal band from (low, low, low) → (high, high, high). Musically: </a:t>
            </a:r>
            <a:r>
              <a:rPr lang="en-US" i="1" dirty="0"/>
              <a:t>energetic, danceable tracks also tend to be “happier”.</a:t>
            </a:r>
            <a:endParaRPr lang="en-US" dirty="0"/>
          </a:p>
          <a:p>
            <a:pPr>
              <a:buNone/>
            </a:pPr>
            <a:r>
              <a:rPr lang="en-US" b="1" dirty="0">
                <a:solidFill>
                  <a:srgbClr val="92D050"/>
                </a:solidFill>
              </a:rPr>
              <a:t>2. Popularity is scattered but shows weak concentration</a:t>
            </a:r>
          </a:p>
          <a:p>
            <a:pPr>
              <a:buFont typeface="Arial" panose="020B0604020202020204" pitchFamily="34" charset="0"/>
              <a:buChar char="•"/>
            </a:pPr>
            <a:r>
              <a:rPr lang="en-US" dirty="0"/>
              <a:t>High-popularity points (yellow/orange) are </a:t>
            </a:r>
            <a:r>
              <a:rPr lang="en-US" b="1" dirty="0"/>
              <a:t>present throughout</a:t>
            </a:r>
            <a:r>
              <a:rPr lang="en-US" dirty="0"/>
              <a:t> the volume, but slightly more concentrated in the </a:t>
            </a:r>
            <a:r>
              <a:rPr lang="en-US" b="1" dirty="0"/>
              <a:t>mid–high energy &amp; valence</a:t>
            </a:r>
            <a:r>
              <a:rPr lang="en-US" dirty="0"/>
              <a:t> region.</a:t>
            </a:r>
          </a:p>
          <a:p>
            <a:pPr>
              <a:buFont typeface="Arial" panose="020B0604020202020204" pitchFamily="34" charset="0"/>
              <a:buChar char="•"/>
            </a:pPr>
            <a:r>
              <a:rPr lang="en-US" dirty="0"/>
              <a:t>There are </a:t>
            </a:r>
            <a:r>
              <a:rPr lang="en-US" b="1" dirty="0"/>
              <a:t>popular tracks at many combinations</a:t>
            </a:r>
            <a:r>
              <a:rPr lang="en-US" dirty="0"/>
              <a:t> (including moderate danceability), so popularity is </a:t>
            </a:r>
            <a:r>
              <a:rPr lang="en-US" b="1" dirty="0"/>
              <a:t>not tightly coupled</a:t>
            </a:r>
            <a:r>
              <a:rPr lang="en-US" dirty="0"/>
              <a:t> to a single feature or corner of the space.</a:t>
            </a:r>
          </a:p>
          <a:p>
            <a:pPr>
              <a:buNone/>
            </a:pPr>
            <a:r>
              <a:rPr lang="en-US" b="1" dirty="0">
                <a:solidFill>
                  <a:srgbClr val="92D050"/>
                </a:solidFill>
              </a:rPr>
              <a:t>3. No single “hit region”</a:t>
            </a:r>
          </a:p>
          <a:p>
            <a:pPr>
              <a:buFont typeface="Arial" panose="020B0604020202020204" pitchFamily="34" charset="0"/>
              <a:buChar char="•"/>
            </a:pPr>
            <a:r>
              <a:rPr lang="en-US" dirty="0"/>
              <a:t>There is </a:t>
            </a:r>
            <a:r>
              <a:rPr lang="en-US" b="1" dirty="0"/>
              <a:t>no isolated cluster</a:t>
            </a:r>
            <a:r>
              <a:rPr lang="en-US" dirty="0"/>
              <a:t> where all the most popular songs sit. Instead popularity forms a </a:t>
            </a:r>
            <a:r>
              <a:rPr lang="en-US" b="1" dirty="0"/>
              <a:t>gradient</a:t>
            </a:r>
            <a:r>
              <a:rPr lang="en-US" dirty="0"/>
              <a:t> — a few brighter spots appear near higher energy/valence/danceability but many bright points are scattered elsewhere.</a:t>
            </a:r>
          </a:p>
          <a:p>
            <a:pPr>
              <a:buNone/>
            </a:pPr>
            <a:r>
              <a:rPr lang="en-US" b="1" dirty="0">
                <a:solidFill>
                  <a:srgbClr val="92D050"/>
                </a:solidFill>
              </a:rPr>
              <a:t>4. Dense central mass = mainstream production style</a:t>
            </a:r>
          </a:p>
          <a:p>
            <a:pPr>
              <a:buFont typeface="Arial" panose="020B0604020202020204" pitchFamily="34" charset="0"/>
              <a:buChar char="•"/>
            </a:pPr>
            <a:r>
              <a:rPr lang="en-US" dirty="0"/>
              <a:t>The densest region (many blue/purple points) sits at </a:t>
            </a:r>
            <a:r>
              <a:rPr lang="en-US" b="1" dirty="0"/>
              <a:t>moderate-to-high danceability and energy</a:t>
            </a:r>
            <a:r>
              <a:rPr lang="en-US" dirty="0"/>
              <a:t> with medium valence — this is the typical modern-production signature (pop/EDM/hip-hop).</a:t>
            </a:r>
          </a:p>
          <a:p>
            <a:pPr>
              <a:buNone/>
            </a:pPr>
            <a:r>
              <a:rPr lang="en-US" dirty="0"/>
              <a:t>.</a:t>
            </a:r>
          </a:p>
        </p:txBody>
      </p:sp>
      <p:sp>
        <p:nvSpPr>
          <p:cNvPr id="9" name="TextBox 8">
            <a:extLst>
              <a:ext uri="{FF2B5EF4-FFF2-40B4-BE49-F238E27FC236}">
                <a16:creationId xmlns:a16="http://schemas.microsoft.com/office/drawing/2014/main" id="{C171B774-C777-19AA-D955-CFEAFCB6365F}"/>
              </a:ext>
            </a:extLst>
          </p:cNvPr>
          <p:cNvSpPr txBox="1"/>
          <p:nvPr/>
        </p:nvSpPr>
        <p:spPr>
          <a:xfrm>
            <a:off x="3986464" y="-68690"/>
            <a:ext cx="6112042" cy="584775"/>
          </a:xfrm>
          <a:prstGeom prst="rect">
            <a:avLst/>
          </a:prstGeom>
          <a:noFill/>
        </p:spPr>
        <p:txBody>
          <a:bodyPr wrap="square">
            <a:spAutoFit/>
          </a:bodyPr>
          <a:lstStyle/>
          <a:p>
            <a:r>
              <a:rPr lang="en-US" sz="3200" b="1" dirty="0">
                <a:solidFill>
                  <a:srgbClr val="6600CC"/>
                </a:solidFill>
                <a:latin typeface="Arial Black" panose="020B0A04020102020204" pitchFamily="34" charset="0"/>
              </a:rPr>
              <a:t>Multivariate Analysis</a:t>
            </a:r>
          </a:p>
        </p:txBody>
      </p:sp>
    </p:spTree>
    <p:extLst>
      <p:ext uri="{BB962C8B-B14F-4D97-AF65-F5344CB8AC3E}">
        <p14:creationId xmlns:p14="http://schemas.microsoft.com/office/powerpoint/2010/main" val="30117307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a:extLst>
              <a:ext uri="{FF2B5EF4-FFF2-40B4-BE49-F238E27FC236}">
                <a16:creationId xmlns:a16="http://schemas.microsoft.com/office/drawing/2014/main" id="{9FCBF117-D6DA-E92F-5E05-A59A04395A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337" y="1002641"/>
            <a:ext cx="5566611" cy="2627002"/>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a:extLst>
              <a:ext uri="{FF2B5EF4-FFF2-40B4-BE49-F238E27FC236}">
                <a16:creationId xmlns:a16="http://schemas.microsoft.com/office/drawing/2014/main" id="{C5DD7A10-8406-54DD-B6FF-1C580D0202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7031" y="3698541"/>
            <a:ext cx="6336632" cy="300222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C68D4EC-D656-9AFA-EA92-A8DCC3E5C11D}"/>
              </a:ext>
            </a:extLst>
          </p:cNvPr>
          <p:cNvSpPr txBox="1"/>
          <p:nvPr/>
        </p:nvSpPr>
        <p:spPr>
          <a:xfrm>
            <a:off x="6096000" y="1075740"/>
            <a:ext cx="6160168" cy="830997"/>
          </a:xfrm>
          <a:prstGeom prst="rect">
            <a:avLst/>
          </a:prstGeom>
          <a:noFill/>
        </p:spPr>
        <p:txBody>
          <a:bodyPr wrap="square">
            <a:spAutoFit/>
          </a:bodyPr>
          <a:lstStyle/>
          <a:p>
            <a:r>
              <a:rPr lang="en-US" sz="2400" b="1" dirty="0">
                <a:solidFill>
                  <a:srgbClr val="FFC000"/>
                </a:solidFill>
              </a:rPr>
              <a:t>Analysis: Average Tempo of Popular Songs Over the Years :</a:t>
            </a:r>
            <a:endParaRPr lang="en-US" sz="2400" dirty="0">
              <a:solidFill>
                <a:srgbClr val="FFC000"/>
              </a:solidFill>
            </a:endParaRPr>
          </a:p>
        </p:txBody>
      </p:sp>
      <p:sp>
        <p:nvSpPr>
          <p:cNvPr id="5" name="TextBox 4">
            <a:extLst>
              <a:ext uri="{FF2B5EF4-FFF2-40B4-BE49-F238E27FC236}">
                <a16:creationId xmlns:a16="http://schemas.microsoft.com/office/drawing/2014/main" id="{4429091B-221A-D673-2CA5-394BB09B4E6A}"/>
              </a:ext>
            </a:extLst>
          </p:cNvPr>
          <p:cNvSpPr txBox="1"/>
          <p:nvPr/>
        </p:nvSpPr>
        <p:spPr>
          <a:xfrm>
            <a:off x="6031832" y="2063975"/>
            <a:ext cx="6184230" cy="1477328"/>
          </a:xfrm>
          <a:prstGeom prst="rect">
            <a:avLst/>
          </a:prstGeom>
          <a:noFill/>
        </p:spPr>
        <p:txBody>
          <a:bodyPr wrap="square">
            <a:spAutoFit/>
          </a:bodyPr>
          <a:lstStyle/>
          <a:p>
            <a:pPr>
              <a:buNone/>
            </a:pPr>
            <a:r>
              <a:rPr lang="en-US" b="1" dirty="0"/>
              <a:t>Popular songs have evolved from highly variable tempos in the 70s to a stable, playlist-friendly range in the 2000s and beyond. Today’s hits usually fall around 115–122 BPM, reflecting modern listening preferences and the influence of dance/electronic production.</a:t>
            </a:r>
          </a:p>
        </p:txBody>
      </p:sp>
      <p:sp>
        <p:nvSpPr>
          <p:cNvPr id="7" name="TextBox 6">
            <a:extLst>
              <a:ext uri="{FF2B5EF4-FFF2-40B4-BE49-F238E27FC236}">
                <a16:creationId xmlns:a16="http://schemas.microsoft.com/office/drawing/2014/main" id="{2D7F7D88-36EC-0397-0F89-665122758041}"/>
              </a:ext>
            </a:extLst>
          </p:cNvPr>
          <p:cNvSpPr txBox="1"/>
          <p:nvPr/>
        </p:nvSpPr>
        <p:spPr>
          <a:xfrm>
            <a:off x="128337" y="3841902"/>
            <a:ext cx="6336632" cy="461665"/>
          </a:xfrm>
          <a:prstGeom prst="rect">
            <a:avLst/>
          </a:prstGeom>
          <a:noFill/>
        </p:spPr>
        <p:txBody>
          <a:bodyPr wrap="square">
            <a:spAutoFit/>
          </a:bodyPr>
          <a:lstStyle/>
          <a:p>
            <a:r>
              <a:rPr lang="en-US" sz="2400" b="1" dirty="0">
                <a:solidFill>
                  <a:srgbClr val="002060"/>
                </a:solidFill>
                <a:highlight>
                  <a:srgbClr val="FFFF00"/>
                </a:highlight>
              </a:rPr>
              <a:t>Danceability &amp; Energy Trends Analysis:</a:t>
            </a:r>
          </a:p>
        </p:txBody>
      </p:sp>
      <p:sp>
        <p:nvSpPr>
          <p:cNvPr id="9" name="TextBox 8">
            <a:extLst>
              <a:ext uri="{FF2B5EF4-FFF2-40B4-BE49-F238E27FC236}">
                <a16:creationId xmlns:a16="http://schemas.microsoft.com/office/drawing/2014/main" id="{9F2BD913-389E-85CA-6703-5B438BAD2D8B}"/>
              </a:ext>
            </a:extLst>
          </p:cNvPr>
          <p:cNvSpPr txBox="1"/>
          <p:nvPr/>
        </p:nvSpPr>
        <p:spPr>
          <a:xfrm>
            <a:off x="212558" y="4209504"/>
            <a:ext cx="5430253" cy="2585323"/>
          </a:xfrm>
          <a:prstGeom prst="rect">
            <a:avLst/>
          </a:prstGeom>
          <a:noFill/>
        </p:spPr>
        <p:txBody>
          <a:bodyPr wrap="square">
            <a:spAutoFit/>
          </a:bodyPr>
          <a:lstStyle/>
          <a:p>
            <a:r>
              <a:rPr lang="en-US" b="1" dirty="0"/>
              <a:t>The trend lines show that popular music has undergone major stylistic shifts across decades. After fluctuating significantly in the 70s–90s, both danceability and energy have stabilized since the 2000s, reflecting modern production consistency. Recent years show rising values again due to the influence of dance, electronic, and global pop genres. Overall, popular songs have become increasingly rhythmic and energetic over time</a:t>
            </a:r>
            <a:r>
              <a:rPr lang="en-US" dirty="0"/>
              <a:t>.</a:t>
            </a:r>
          </a:p>
        </p:txBody>
      </p:sp>
      <p:sp>
        <p:nvSpPr>
          <p:cNvPr id="11" name="TextBox 10">
            <a:extLst>
              <a:ext uri="{FF2B5EF4-FFF2-40B4-BE49-F238E27FC236}">
                <a16:creationId xmlns:a16="http://schemas.microsoft.com/office/drawing/2014/main" id="{6435E61F-FEFA-CF69-1F66-90B27977E391}"/>
              </a:ext>
            </a:extLst>
          </p:cNvPr>
          <p:cNvSpPr txBox="1"/>
          <p:nvPr/>
        </p:nvSpPr>
        <p:spPr>
          <a:xfrm>
            <a:off x="3400927" y="92448"/>
            <a:ext cx="6128084" cy="584775"/>
          </a:xfrm>
          <a:prstGeom prst="rect">
            <a:avLst/>
          </a:prstGeom>
          <a:noFill/>
        </p:spPr>
        <p:txBody>
          <a:bodyPr wrap="square">
            <a:spAutoFit/>
          </a:bodyPr>
          <a:lstStyle/>
          <a:p>
            <a:r>
              <a:rPr lang="en-US" sz="3200" b="1" dirty="0">
                <a:solidFill>
                  <a:srgbClr val="FF0000"/>
                </a:solidFill>
                <a:latin typeface="Arial Black" panose="020B0A04020102020204" pitchFamily="34" charset="0"/>
              </a:rPr>
              <a:t>Time Series Analysis</a:t>
            </a:r>
          </a:p>
        </p:txBody>
      </p:sp>
    </p:spTree>
    <p:extLst>
      <p:ext uri="{BB962C8B-B14F-4D97-AF65-F5344CB8AC3E}">
        <p14:creationId xmlns:p14="http://schemas.microsoft.com/office/powerpoint/2010/main" val="12104976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4" name="Picture 8">
            <a:extLst>
              <a:ext uri="{FF2B5EF4-FFF2-40B4-BE49-F238E27FC236}">
                <a16:creationId xmlns:a16="http://schemas.microsoft.com/office/drawing/2014/main" id="{7FE749B6-34D2-F01A-2A15-B5BE02DD90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28140"/>
            <a:ext cx="5362075" cy="387177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75B3CB5-741F-ED04-3016-97CD12D74515}"/>
              </a:ext>
            </a:extLst>
          </p:cNvPr>
          <p:cNvSpPr txBox="1"/>
          <p:nvPr/>
        </p:nvSpPr>
        <p:spPr>
          <a:xfrm>
            <a:off x="5728001" y="1144057"/>
            <a:ext cx="6096000" cy="461665"/>
          </a:xfrm>
          <a:prstGeom prst="rect">
            <a:avLst/>
          </a:prstGeom>
          <a:noFill/>
        </p:spPr>
        <p:txBody>
          <a:bodyPr wrap="square">
            <a:spAutoFit/>
          </a:bodyPr>
          <a:lstStyle/>
          <a:p>
            <a:r>
              <a:rPr lang="en-US" sz="2400" b="1" dirty="0">
                <a:solidFill>
                  <a:srgbClr val="002060"/>
                </a:solidFill>
                <a:highlight>
                  <a:srgbClr val="FFFF00"/>
                </a:highlight>
              </a:rPr>
              <a:t>Analysis: Trends of Musical Keys Over Years</a:t>
            </a:r>
          </a:p>
        </p:txBody>
      </p:sp>
      <p:sp>
        <p:nvSpPr>
          <p:cNvPr id="5" name="Rectangle 12">
            <a:extLst>
              <a:ext uri="{FF2B5EF4-FFF2-40B4-BE49-F238E27FC236}">
                <a16:creationId xmlns:a16="http://schemas.microsoft.com/office/drawing/2014/main" id="{123633D3-D280-3315-163A-497DB73E3D40}"/>
              </a:ext>
            </a:extLst>
          </p:cNvPr>
          <p:cNvSpPr>
            <a:spLocks noChangeArrowheads="1"/>
          </p:cNvSpPr>
          <p:nvPr/>
        </p:nvSpPr>
        <p:spPr bwMode="auto">
          <a:xfrm>
            <a:off x="5624834" y="1763516"/>
            <a:ext cx="6827852"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 Before 2000 → very few songs per year in dataset</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 After 2010 → rapid growth in all keys</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 Keys 0, 6, 8, 10 dominate modern music</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 Keys 2 &amp; 4 are less popular in the digital era</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 Strong surge after 2020 → Spotify era boom</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 No single universal key — music is diverse</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 Pattern reflects modern genre trends (pop, EDM, hip-ho</a:t>
            </a:r>
            <a:r>
              <a:rPr lang="en-US" altLang="en-US" sz="1600" b="1" dirty="0">
                <a:latin typeface="Arial" panose="020B0604020202020204" pitchFamily="34" charset="0"/>
              </a:rPr>
              <a:t>p</a:t>
            </a:r>
            <a:r>
              <a:rPr kumimoji="0" lang="en-US" altLang="en-US" sz="1600" b="0" i="0" u="none" strike="noStrike" cap="none" normalizeH="0" baseline="0" dirty="0">
                <a:ln>
                  <a:noFill/>
                </a:ln>
                <a:solidFill>
                  <a:schemeClr val="tx1"/>
                </a:solidFill>
                <a:effectLst/>
                <a:latin typeface="Arial" panose="020B0604020202020204" pitchFamily="34" charset="0"/>
              </a:rPr>
              <a:t>)</a:t>
            </a:r>
          </a:p>
        </p:txBody>
      </p:sp>
      <p:sp>
        <p:nvSpPr>
          <p:cNvPr id="7" name="TextBox 6">
            <a:extLst>
              <a:ext uri="{FF2B5EF4-FFF2-40B4-BE49-F238E27FC236}">
                <a16:creationId xmlns:a16="http://schemas.microsoft.com/office/drawing/2014/main" id="{20C271F8-2B5A-108D-310E-2A8536D25193}"/>
              </a:ext>
            </a:extLst>
          </p:cNvPr>
          <p:cNvSpPr txBox="1"/>
          <p:nvPr/>
        </p:nvSpPr>
        <p:spPr>
          <a:xfrm>
            <a:off x="5697507" y="3579398"/>
            <a:ext cx="6682506" cy="2677656"/>
          </a:xfrm>
          <a:prstGeom prst="rect">
            <a:avLst/>
          </a:prstGeom>
          <a:noFill/>
        </p:spPr>
        <p:txBody>
          <a:bodyPr wrap="square">
            <a:spAutoFit/>
          </a:bodyPr>
          <a:lstStyle/>
          <a:p>
            <a:pPr>
              <a:buNone/>
            </a:pPr>
            <a:r>
              <a:rPr lang="en-US" sz="2400" b="1" dirty="0">
                <a:highlight>
                  <a:srgbClr val="FFFF00"/>
                </a:highlight>
              </a:rPr>
              <a:t>High Volatility Suggests Production Trends</a:t>
            </a:r>
          </a:p>
          <a:p>
            <a:pPr>
              <a:buNone/>
            </a:pPr>
            <a:r>
              <a:rPr lang="en-US" dirty="0"/>
              <a:t> </a:t>
            </a:r>
            <a:r>
              <a:rPr lang="en-US" altLang="en-US" b="1" dirty="0">
                <a:latin typeface="Arial" panose="020B0604020202020204" pitchFamily="34" charset="0"/>
              </a:rPr>
              <a:t>🔹</a:t>
            </a:r>
            <a:r>
              <a:rPr lang="en-US" dirty="0"/>
              <a:t> </a:t>
            </a:r>
            <a:r>
              <a:rPr lang="en-US" b="1" dirty="0"/>
              <a:t>The spikes and dips across years show:</a:t>
            </a:r>
          </a:p>
          <a:p>
            <a:r>
              <a:rPr lang="en-US" b="1" dirty="0"/>
              <a:t> </a:t>
            </a:r>
            <a:r>
              <a:rPr lang="en-US" altLang="en-US" b="1" dirty="0">
                <a:latin typeface="Arial" panose="020B0604020202020204" pitchFamily="34" charset="0"/>
              </a:rPr>
              <a:t>🔹</a:t>
            </a:r>
            <a:r>
              <a:rPr lang="en-US" b="1" dirty="0"/>
              <a:t>  Trendy keys can become dominant for 2–5 years</a:t>
            </a:r>
          </a:p>
          <a:p>
            <a:r>
              <a:rPr lang="en-US" b="1" dirty="0"/>
              <a:t> </a:t>
            </a:r>
            <a:r>
              <a:rPr lang="en-US" altLang="en-US" b="1" dirty="0">
                <a:latin typeface="Arial" panose="020B0604020202020204" pitchFamily="34" charset="0"/>
              </a:rPr>
              <a:t>🔹</a:t>
            </a:r>
            <a:r>
              <a:rPr lang="en-US" b="1" dirty="0"/>
              <a:t>  Then another key rises</a:t>
            </a:r>
          </a:p>
          <a:p>
            <a:r>
              <a:rPr lang="en-US" b="1" dirty="0"/>
              <a:t> </a:t>
            </a:r>
            <a:r>
              <a:rPr lang="en-US" altLang="en-US" b="1" dirty="0">
                <a:latin typeface="Arial" panose="020B0604020202020204" pitchFamily="34" charset="0"/>
              </a:rPr>
              <a:t>🔹</a:t>
            </a:r>
            <a:r>
              <a:rPr lang="en-US" b="1" dirty="0"/>
              <a:t>   Probably related to:</a:t>
            </a:r>
          </a:p>
          <a:p>
            <a:r>
              <a:rPr lang="en-US" b="1" dirty="0"/>
              <a:t> </a:t>
            </a:r>
            <a:r>
              <a:rPr lang="en-US" altLang="en-US" b="1" dirty="0">
                <a:latin typeface="Arial" panose="020B0604020202020204" pitchFamily="34" charset="0"/>
              </a:rPr>
              <a:t>🔹   </a:t>
            </a:r>
            <a:r>
              <a:rPr lang="en-US" b="1" dirty="0"/>
              <a:t>Producer preference</a:t>
            </a:r>
          </a:p>
          <a:p>
            <a:r>
              <a:rPr lang="en-US" altLang="en-US" b="1" dirty="0">
                <a:latin typeface="Arial" panose="020B0604020202020204" pitchFamily="34" charset="0"/>
              </a:rPr>
              <a:t> 🔹  </a:t>
            </a:r>
            <a:r>
              <a:rPr lang="en-US" b="1" dirty="0"/>
              <a:t>Tuning choices</a:t>
            </a:r>
          </a:p>
          <a:p>
            <a:r>
              <a:rPr lang="en-US" altLang="en-US" b="1" dirty="0">
                <a:latin typeface="Arial" panose="020B0604020202020204" pitchFamily="34" charset="0"/>
              </a:rPr>
              <a:t> 🔹   </a:t>
            </a:r>
            <a:r>
              <a:rPr lang="en-US" b="1" dirty="0"/>
              <a:t>Genre popularity cycles</a:t>
            </a:r>
          </a:p>
          <a:p>
            <a:r>
              <a:rPr lang="en-US" altLang="en-US" b="1" dirty="0">
                <a:latin typeface="Arial" panose="020B0604020202020204" pitchFamily="34" charset="0"/>
              </a:rPr>
              <a:t> 🔹 </a:t>
            </a:r>
            <a:r>
              <a:rPr lang="en-US" b="1" dirty="0"/>
              <a:t>Vocal tendencies in mainstream artists</a:t>
            </a:r>
          </a:p>
        </p:txBody>
      </p:sp>
      <p:sp>
        <p:nvSpPr>
          <p:cNvPr id="9" name="TextBox 8">
            <a:extLst>
              <a:ext uri="{FF2B5EF4-FFF2-40B4-BE49-F238E27FC236}">
                <a16:creationId xmlns:a16="http://schemas.microsoft.com/office/drawing/2014/main" id="{964B6790-406A-F53F-4095-1D2DC4FA9B03}"/>
              </a:ext>
            </a:extLst>
          </p:cNvPr>
          <p:cNvSpPr txBox="1"/>
          <p:nvPr/>
        </p:nvSpPr>
        <p:spPr>
          <a:xfrm>
            <a:off x="3753853" y="187998"/>
            <a:ext cx="6224336" cy="584775"/>
          </a:xfrm>
          <a:prstGeom prst="rect">
            <a:avLst/>
          </a:prstGeom>
          <a:noFill/>
        </p:spPr>
        <p:txBody>
          <a:bodyPr wrap="square">
            <a:spAutoFit/>
          </a:bodyPr>
          <a:lstStyle/>
          <a:p>
            <a:r>
              <a:rPr lang="en-US" sz="3200" b="1" dirty="0">
                <a:solidFill>
                  <a:srgbClr val="FF0000"/>
                </a:solidFill>
                <a:latin typeface="Arial Black" panose="020B0A04020102020204" pitchFamily="34" charset="0"/>
              </a:rPr>
              <a:t>Time Series Analysis</a:t>
            </a:r>
          </a:p>
        </p:txBody>
      </p:sp>
    </p:spTree>
    <p:extLst>
      <p:ext uri="{BB962C8B-B14F-4D97-AF65-F5344CB8AC3E}">
        <p14:creationId xmlns:p14="http://schemas.microsoft.com/office/powerpoint/2010/main" val="31715067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a:extLst>
              <a:ext uri="{FF2B5EF4-FFF2-40B4-BE49-F238E27FC236}">
                <a16:creationId xmlns:a16="http://schemas.microsoft.com/office/drawing/2014/main" id="{B22C9520-C7D0-89D6-E28B-29AE2BF483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58" y="1304613"/>
            <a:ext cx="5887453" cy="352851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240E41C-8451-DBA0-C730-452D7747CB8A}"/>
              </a:ext>
            </a:extLst>
          </p:cNvPr>
          <p:cNvSpPr txBox="1"/>
          <p:nvPr/>
        </p:nvSpPr>
        <p:spPr>
          <a:xfrm>
            <a:off x="6096000" y="1027448"/>
            <a:ext cx="6096000" cy="830997"/>
          </a:xfrm>
          <a:prstGeom prst="rect">
            <a:avLst/>
          </a:prstGeom>
          <a:noFill/>
        </p:spPr>
        <p:txBody>
          <a:bodyPr wrap="square">
            <a:spAutoFit/>
          </a:bodyPr>
          <a:lstStyle/>
          <a:p>
            <a:r>
              <a:rPr lang="en-US" sz="2400" dirty="0">
                <a:solidFill>
                  <a:schemeClr val="accent1">
                    <a:lumMod val="75000"/>
                  </a:schemeClr>
                </a:solidFill>
                <a:latin typeface="Arial Black" panose="020B0A04020102020204" pitchFamily="34" charset="0"/>
              </a:rPr>
              <a:t>Analysis: Average Duration of Popular Songs Over Years</a:t>
            </a:r>
          </a:p>
        </p:txBody>
      </p:sp>
      <p:sp>
        <p:nvSpPr>
          <p:cNvPr id="5" name="TextBox 4">
            <a:extLst>
              <a:ext uri="{FF2B5EF4-FFF2-40B4-BE49-F238E27FC236}">
                <a16:creationId xmlns:a16="http://schemas.microsoft.com/office/drawing/2014/main" id="{96B2216C-AA2B-5E67-0A6F-3CA031E8E6DB}"/>
              </a:ext>
            </a:extLst>
          </p:cNvPr>
          <p:cNvSpPr txBox="1"/>
          <p:nvPr/>
        </p:nvSpPr>
        <p:spPr>
          <a:xfrm>
            <a:off x="5906811" y="1946424"/>
            <a:ext cx="6558457" cy="1631216"/>
          </a:xfrm>
          <a:prstGeom prst="rect">
            <a:avLst/>
          </a:prstGeom>
          <a:noFill/>
        </p:spPr>
        <p:txBody>
          <a:bodyPr wrap="square">
            <a:spAutoFit/>
          </a:bodyPr>
          <a:lstStyle/>
          <a:p>
            <a:pPr>
              <a:buNone/>
            </a:pPr>
            <a:r>
              <a:rPr lang="en-US" sz="2000" dirty="0">
                <a:latin typeface="Bahnschrift SemiBold Condensed" panose="020B0502040204020203" pitchFamily="34" charset="0"/>
              </a:rPr>
              <a:t>Popular songs have become </a:t>
            </a:r>
            <a:r>
              <a:rPr lang="en-US" sz="2000" b="1" dirty="0">
                <a:latin typeface="Bahnschrift SemiBold Condensed" panose="020B0502040204020203" pitchFamily="34" charset="0"/>
              </a:rPr>
              <a:t>significantly shorter over time</a:t>
            </a:r>
            <a:r>
              <a:rPr lang="en-US" sz="2000" dirty="0">
                <a:latin typeface="Bahnschrift SemiBold Condensed" panose="020B0502040204020203" pitchFamily="34" charset="0"/>
              </a:rPr>
              <a:t>.</a:t>
            </a:r>
          </a:p>
          <a:p>
            <a:pPr>
              <a:buFont typeface="Arial" panose="020B0604020202020204" pitchFamily="34" charset="0"/>
              <a:buChar char="•"/>
            </a:pPr>
            <a:r>
              <a:rPr lang="en-US" sz="2000" b="1" dirty="0">
                <a:solidFill>
                  <a:schemeClr val="accent6">
                    <a:lumMod val="50000"/>
                  </a:schemeClr>
                </a:solidFill>
                <a:latin typeface="Bahnschrift SemiBold Condensed" panose="020B0502040204020203" pitchFamily="34" charset="0"/>
              </a:rPr>
              <a:t>1970–1995</a:t>
            </a:r>
            <a:r>
              <a:rPr lang="en-US" sz="2000" b="1" dirty="0">
                <a:latin typeface="Bahnschrift SemiBold Condensed" panose="020B0502040204020203" pitchFamily="34" charset="0"/>
              </a:rPr>
              <a:t>:</a:t>
            </a:r>
            <a:r>
              <a:rPr lang="en-US" sz="2000" dirty="0">
                <a:latin typeface="Bahnschrift SemiBold Condensed" panose="020B0502040204020203" pitchFamily="34" charset="0"/>
              </a:rPr>
              <a:t>  Songs were long, often </a:t>
            </a:r>
            <a:r>
              <a:rPr lang="en-US" sz="2000" b="1" dirty="0">
                <a:latin typeface="Bahnschrift SemiBold Condensed" panose="020B0502040204020203" pitchFamily="34" charset="0"/>
              </a:rPr>
              <a:t>4.5–6 minutes</a:t>
            </a:r>
            <a:r>
              <a:rPr lang="en-US" sz="2000" dirty="0">
                <a:latin typeface="Bahnschrift SemiBold Condensed" panose="020B0502040204020203" pitchFamily="34" charset="0"/>
              </a:rPr>
              <a:t>.</a:t>
            </a:r>
          </a:p>
          <a:p>
            <a:pPr>
              <a:buFont typeface="Arial" panose="020B0604020202020204" pitchFamily="34" charset="0"/>
              <a:buChar char="•"/>
            </a:pPr>
            <a:r>
              <a:rPr lang="en-US" sz="2000" b="1" dirty="0">
                <a:solidFill>
                  <a:schemeClr val="accent6">
                    <a:lumMod val="50000"/>
                  </a:schemeClr>
                </a:solidFill>
                <a:latin typeface="Bahnschrift SemiBold Condensed" panose="020B0502040204020203" pitchFamily="34" charset="0"/>
              </a:rPr>
              <a:t>1990s</a:t>
            </a:r>
            <a:r>
              <a:rPr lang="en-US" sz="2000" b="1" dirty="0">
                <a:latin typeface="Bahnschrift SemiBold Condensed" panose="020B0502040204020203" pitchFamily="34" charset="0"/>
              </a:rPr>
              <a:t>:</a:t>
            </a:r>
            <a:r>
              <a:rPr lang="en-US" sz="2000" dirty="0">
                <a:latin typeface="Bahnschrift SemiBold Condensed" panose="020B0502040204020203" pitchFamily="34" charset="0"/>
              </a:rPr>
              <a:t>          Length peaks at nearly </a:t>
            </a:r>
            <a:r>
              <a:rPr lang="en-US" sz="2000" b="1" dirty="0">
                <a:latin typeface="Bahnschrift SemiBold Condensed" panose="020B0502040204020203" pitchFamily="34" charset="0"/>
              </a:rPr>
              <a:t>6 minutes</a:t>
            </a:r>
            <a:r>
              <a:rPr lang="en-US" sz="2000" dirty="0">
                <a:latin typeface="Bahnschrift SemiBold Condensed" panose="020B0502040204020203" pitchFamily="34" charset="0"/>
              </a:rPr>
              <a:t>.</a:t>
            </a:r>
          </a:p>
          <a:p>
            <a:pPr>
              <a:buFont typeface="Arial" panose="020B0604020202020204" pitchFamily="34" charset="0"/>
              <a:buChar char="•"/>
            </a:pPr>
            <a:r>
              <a:rPr lang="en-US" sz="2000" b="1" dirty="0">
                <a:solidFill>
                  <a:schemeClr val="accent6">
                    <a:lumMod val="50000"/>
                  </a:schemeClr>
                </a:solidFill>
                <a:latin typeface="Bahnschrift SemiBold Condensed" panose="020B0502040204020203" pitchFamily="34" charset="0"/>
              </a:rPr>
              <a:t>2000–2010:</a:t>
            </a:r>
            <a:r>
              <a:rPr lang="en-US" sz="2000" dirty="0">
                <a:solidFill>
                  <a:schemeClr val="accent6">
                    <a:lumMod val="50000"/>
                  </a:schemeClr>
                </a:solidFill>
                <a:latin typeface="Bahnschrift SemiBold Condensed" panose="020B0502040204020203" pitchFamily="34" charset="0"/>
              </a:rPr>
              <a:t>  </a:t>
            </a:r>
            <a:r>
              <a:rPr lang="en-US" sz="2000" dirty="0">
                <a:latin typeface="Bahnschrift SemiBold Condensed" panose="020B0502040204020203" pitchFamily="34" charset="0"/>
              </a:rPr>
              <a:t>Slight decrease begins.</a:t>
            </a:r>
          </a:p>
          <a:p>
            <a:pPr>
              <a:buFont typeface="Arial" panose="020B0604020202020204" pitchFamily="34" charset="0"/>
              <a:buChar char="•"/>
            </a:pPr>
            <a:r>
              <a:rPr lang="en-US" sz="2000" b="1" dirty="0">
                <a:solidFill>
                  <a:schemeClr val="accent6">
                    <a:lumMod val="50000"/>
                  </a:schemeClr>
                </a:solidFill>
                <a:latin typeface="Bahnschrift SemiBold Condensed" panose="020B0502040204020203" pitchFamily="34" charset="0"/>
              </a:rPr>
              <a:t>2010–2023</a:t>
            </a:r>
            <a:r>
              <a:rPr lang="en-US" sz="2000" b="1" dirty="0">
                <a:latin typeface="Bahnschrift SemiBold Condensed" panose="020B0502040204020203" pitchFamily="34" charset="0"/>
              </a:rPr>
              <a:t>:  </a:t>
            </a:r>
            <a:r>
              <a:rPr lang="en-US" sz="2000" dirty="0">
                <a:latin typeface="Bahnschrift SemiBold Condensed" panose="020B0502040204020203" pitchFamily="34" charset="0"/>
              </a:rPr>
              <a:t> Sharp drop as average duration falls to about </a:t>
            </a:r>
            <a:r>
              <a:rPr lang="en-US" sz="2000" b="1" dirty="0">
                <a:latin typeface="Bahnschrift SemiBold Condensed" panose="020B0502040204020203" pitchFamily="34" charset="0"/>
              </a:rPr>
              <a:t>3.3 minutes</a:t>
            </a:r>
            <a:r>
              <a:rPr lang="en-US" dirty="0"/>
              <a:t>.</a:t>
            </a:r>
          </a:p>
        </p:txBody>
      </p:sp>
      <p:sp>
        <p:nvSpPr>
          <p:cNvPr id="7" name="TextBox 6">
            <a:extLst>
              <a:ext uri="{FF2B5EF4-FFF2-40B4-BE49-F238E27FC236}">
                <a16:creationId xmlns:a16="http://schemas.microsoft.com/office/drawing/2014/main" id="{22D93F3C-D2E5-4C49-2354-426953F04DF2}"/>
              </a:ext>
            </a:extLst>
          </p:cNvPr>
          <p:cNvSpPr txBox="1"/>
          <p:nvPr/>
        </p:nvSpPr>
        <p:spPr>
          <a:xfrm>
            <a:off x="530773" y="4921102"/>
            <a:ext cx="8613227" cy="1631216"/>
          </a:xfrm>
          <a:prstGeom prst="rect">
            <a:avLst/>
          </a:prstGeom>
          <a:noFill/>
        </p:spPr>
        <p:txBody>
          <a:bodyPr wrap="square">
            <a:spAutoFit/>
          </a:bodyPr>
          <a:lstStyle/>
          <a:p>
            <a:pPr>
              <a:buNone/>
            </a:pPr>
            <a:r>
              <a:rPr lang="en-US" sz="2800" dirty="0">
                <a:solidFill>
                  <a:srgbClr val="FF0000"/>
                </a:solidFill>
              </a:rPr>
              <a:t>🎯 </a:t>
            </a:r>
            <a:r>
              <a:rPr lang="en-US" sz="2800" b="1" dirty="0">
                <a:solidFill>
                  <a:srgbClr val="FF0000"/>
                </a:solidFill>
              </a:rPr>
              <a:t>Overall Trend:</a:t>
            </a:r>
            <a:endParaRPr lang="en-US" sz="2800" dirty="0">
              <a:solidFill>
                <a:srgbClr val="FF0000"/>
              </a:solidFill>
            </a:endParaRPr>
          </a:p>
          <a:p>
            <a:pPr>
              <a:buNone/>
            </a:pPr>
            <a:r>
              <a:rPr lang="en-US" sz="2400" b="1" dirty="0">
                <a:latin typeface="Arial Narrow" panose="020B0606020202030204" pitchFamily="34" charset="0"/>
              </a:rPr>
              <a:t>Popular songs today are almost 40% shorter than in the early 1990s.</a:t>
            </a:r>
            <a:br>
              <a:rPr lang="en-US" sz="2400" b="1" dirty="0">
                <a:latin typeface="Arial Narrow" panose="020B0606020202030204" pitchFamily="34" charset="0"/>
              </a:rPr>
            </a:br>
            <a:r>
              <a:rPr lang="en-US" sz="2400" b="1" dirty="0">
                <a:latin typeface="Arial Narrow" panose="020B0606020202030204" pitchFamily="34" charset="0"/>
              </a:rPr>
              <a:t>The modern music industry favors shorter, more repeatable, and algorithm-optimized tracks</a:t>
            </a:r>
            <a:r>
              <a:rPr lang="en-US" dirty="0"/>
              <a:t>.</a:t>
            </a:r>
          </a:p>
        </p:txBody>
      </p:sp>
      <p:sp>
        <p:nvSpPr>
          <p:cNvPr id="9" name="TextBox 8">
            <a:extLst>
              <a:ext uri="{FF2B5EF4-FFF2-40B4-BE49-F238E27FC236}">
                <a16:creationId xmlns:a16="http://schemas.microsoft.com/office/drawing/2014/main" id="{37DCF4F5-DD99-03BD-8B65-FB1F0CF0E846}"/>
              </a:ext>
            </a:extLst>
          </p:cNvPr>
          <p:cNvSpPr txBox="1"/>
          <p:nvPr/>
        </p:nvSpPr>
        <p:spPr>
          <a:xfrm>
            <a:off x="3613484" y="48107"/>
            <a:ext cx="6232358" cy="584775"/>
          </a:xfrm>
          <a:prstGeom prst="rect">
            <a:avLst/>
          </a:prstGeom>
          <a:noFill/>
        </p:spPr>
        <p:txBody>
          <a:bodyPr wrap="square">
            <a:spAutoFit/>
          </a:bodyPr>
          <a:lstStyle/>
          <a:p>
            <a:r>
              <a:rPr lang="en-US" sz="3200" b="1" dirty="0">
                <a:solidFill>
                  <a:srgbClr val="FF0000"/>
                </a:solidFill>
                <a:latin typeface="Arial Black" panose="020B0A04020102020204" pitchFamily="34" charset="0"/>
              </a:rPr>
              <a:t>Time Series Analysis</a:t>
            </a:r>
          </a:p>
        </p:txBody>
      </p:sp>
    </p:spTree>
    <p:extLst>
      <p:ext uri="{BB962C8B-B14F-4D97-AF65-F5344CB8AC3E}">
        <p14:creationId xmlns:p14="http://schemas.microsoft.com/office/powerpoint/2010/main" val="15300347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90" name="Picture 6">
            <a:extLst>
              <a:ext uri="{FF2B5EF4-FFF2-40B4-BE49-F238E27FC236}">
                <a16:creationId xmlns:a16="http://schemas.microsoft.com/office/drawing/2014/main" id="{4D2F1D6E-C909-1A00-76FE-2336154A7B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65229"/>
            <a:ext cx="5674993" cy="267025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D2939ED-6355-14DA-D4C1-0CC1E6FB6B6B}"/>
              </a:ext>
            </a:extLst>
          </p:cNvPr>
          <p:cNvSpPr txBox="1"/>
          <p:nvPr/>
        </p:nvSpPr>
        <p:spPr>
          <a:xfrm>
            <a:off x="6096000" y="1065229"/>
            <a:ext cx="6267353" cy="646331"/>
          </a:xfrm>
          <a:prstGeom prst="rect">
            <a:avLst/>
          </a:prstGeom>
          <a:noFill/>
        </p:spPr>
        <p:txBody>
          <a:bodyPr wrap="square">
            <a:spAutoFit/>
          </a:bodyPr>
          <a:lstStyle/>
          <a:p>
            <a:r>
              <a:rPr lang="en-US" b="1" dirty="0">
                <a:solidFill>
                  <a:srgbClr val="00B0F0"/>
                </a:solidFill>
                <a:latin typeface="Arial Black" panose="020B0A04020102020204" pitchFamily="34" charset="0"/>
              </a:rPr>
              <a:t>Analysis: Average Loudness of Popular Songs Over the Years</a:t>
            </a:r>
          </a:p>
        </p:txBody>
      </p:sp>
      <p:sp>
        <p:nvSpPr>
          <p:cNvPr id="5" name="TextBox 4">
            <a:extLst>
              <a:ext uri="{FF2B5EF4-FFF2-40B4-BE49-F238E27FC236}">
                <a16:creationId xmlns:a16="http://schemas.microsoft.com/office/drawing/2014/main" id="{794E3972-FC0F-8384-BEB5-7E6D84736D6C}"/>
              </a:ext>
            </a:extLst>
          </p:cNvPr>
          <p:cNvSpPr txBox="1"/>
          <p:nvPr/>
        </p:nvSpPr>
        <p:spPr>
          <a:xfrm>
            <a:off x="6096000" y="1683468"/>
            <a:ext cx="6184230" cy="2031325"/>
          </a:xfrm>
          <a:prstGeom prst="rect">
            <a:avLst/>
          </a:prstGeom>
          <a:noFill/>
        </p:spPr>
        <p:txBody>
          <a:bodyPr wrap="square">
            <a:spAutoFit/>
          </a:bodyPr>
          <a:lstStyle/>
          <a:p>
            <a:r>
              <a:rPr lang="en-US" dirty="0">
                <a:latin typeface="Aptos Narrow" panose="020B0004020202020204" pitchFamily="34" charset="0"/>
                <a:ea typeface="Artifakt Element Heavy" panose="020B0B03050000020004" pitchFamily="34" charset="0"/>
              </a:rPr>
              <a:t>Popular songs have become significantly louder over the past five decades.</a:t>
            </a:r>
            <a:br>
              <a:rPr lang="en-US" dirty="0">
                <a:latin typeface="Aptos Narrow" panose="020B0004020202020204" pitchFamily="34" charset="0"/>
                <a:ea typeface="Artifakt Element Heavy" panose="020B0B03050000020004" pitchFamily="34" charset="0"/>
              </a:rPr>
            </a:br>
            <a:r>
              <a:rPr lang="en-US" dirty="0">
                <a:latin typeface="Aptos Narrow" panose="020B0004020202020204" pitchFamily="34" charset="0"/>
                <a:ea typeface="Artifakt Element Heavy" panose="020B0B03050000020004" pitchFamily="34" charset="0"/>
              </a:rPr>
              <a:t>The average loudness increased from around −12 dB in the 1970s to approximately −5 dB in recent years, driven by changes in music production and the “Loudness War.”</a:t>
            </a:r>
            <a:br>
              <a:rPr lang="en-US" dirty="0">
                <a:latin typeface="Aptos Narrow" panose="020B0004020202020204" pitchFamily="34" charset="0"/>
                <a:ea typeface="Artifakt Element Heavy" panose="020B0B03050000020004" pitchFamily="34" charset="0"/>
              </a:rPr>
            </a:br>
            <a:r>
              <a:rPr lang="en-US" dirty="0">
                <a:latin typeface="Aptos Narrow" panose="020B0004020202020204" pitchFamily="34" charset="0"/>
                <a:ea typeface="Artifakt Element Heavy" panose="020B0B03050000020004" pitchFamily="34" charset="0"/>
              </a:rPr>
              <a:t>Since 2010, loudness has stabilized due to the influence of modern streaming platform normalization standards.</a:t>
            </a:r>
          </a:p>
        </p:txBody>
      </p:sp>
      <p:pic>
        <p:nvPicPr>
          <p:cNvPr id="6" name="Picture 2">
            <a:extLst>
              <a:ext uri="{FF2B5EF4-FFF2-40B4-BE49-F238E27FC236}">
                <a16:creationId xmlns:a16="http://schemas.microsoft.com/office/drawing/2014/main" id="{85A94847-A9AB-ED21-8862-BFB66F799F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9515" y="3859173"/>
            <a:ext cx="5520739" cy="261566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26E3D48-6AE0-9812-E414-19BF9CCB7B58}"/>
              </a:ext>
            </a:extLst>
          </p:cNvPr>
          <p:cNvSpPr txBox="1"/>
          <p:nvPr/>
        </p:nvSpPr>
        <p:spPr>
          <a:xfrm>
            <a:off x="180473" y="3879866"/>
            <a:ext cx="6184230" cy="707886"/>
          </a:xfrm>
          <a:prstGeom prst="rect">
            <a:avLst/>
          </a:prstGeom>
          <a:noFill/>
        </p:spPr>
        <p:txBody>
          <a:bodyPr wrap="square">
            <a:spAutoFit/>
          </a:bodyPr>
          <a:lstStyle/>
          <a:p>
            <a:r>
              <a:rPr lang="en-US" sz="2000" b="1" dirty="0">
                <a:solidFill>
                  <a:srgbClr val="00B0F0"/>
                </a:solidFill>
                <a:latin typeface="Arial Black" panose="020B0A04020102020204" pitchFamily="34" charset="0"/>
              </a:rPr>
              <a:t>Analysis of Emotional Positivity (Valence) Trend in Popular Songs (1970–2023)</a:t>
            </a:r>
          </a:p>
        </p:txBody>
      </p:sp>
      <p:sp>
        <p:nvSpPr>
          <p:cNvPr id="10" name="TextBox 9">
            <a:extLst>
              <a:ext uri="{FF2B5EF4-FFF2-40B4-BE49-F238E27FC236}">
                <a16:creationId xmlns:a16="http://schemas.microsoft.com/office/drawing/2014/main" id="{0D12CB22-BD80-C0C0-A370-4C6C9DD8AFE9}"/>
              </a:ext>
            </a:extLst>
          </p:cNvPr>
          <p:cNvSpPr txBox="1"/>
          <p:nvPr/>
        </p:nvSpPr>
        <p:spPr>
          <a:xfrm>
            <a:off x="180473" y="4566839"/>
            <a:ext cx="6184230" cy="1200329"/>
          </a:xfrm>
          <a:prstGeom prst="rect">
            <a:avLst/>
          </a:prstGeom>
          <a:noFill/>
        </p:spPr>
        <p:txBody>
          <a:bodyPr wrap="square">
            <a:spAutoFit/>
          </a:bodyPr>
          <a:lstStyle/>
          <a:p>
            <a:pPr>
              <a:buNone/>
            </a:pPr>
            <a:r>
              <a:rPr lang="en-US" b="1" dirty="0"/>
              <a:t>Popular music has become less “happy” over the decades.</a:t>
            </a:r>
            <a:endParaRPr lang="en-US" dirty="0"/>
          </a:p>
          <a:p>
            <a:pPr>
              <a:buFont typeface="Arial" panose="020B0604020202020204" pitchFamily="34" charset="0"/>
              <a:buChar char="•"/>
            </a:pPr>
            <a:r>
              <a:rPr lang="en-US" b="1" dirty="0"/>
              <a:t>1970s–1980s:</a:t>
            </a:r>
            <a:r>
              <a:rPr lang="en-US" dirty="0"/>
              <a:t> Happiest era (peak positivity).</a:t>
            </a:r>
          </a:p>
          <a:p>
            <a:pPr>
              <a:buFont typeface="Arial" panose="020B0604020202020204" pitchFamily="34" charset="0"/>
              <a:buChar char="•"/>
            </a:pPr>
            <a:r>
              <a:rPr lang="en-US" b="1" dirty="0"/>
              <a:t>1990s–2000s:</a:t>
            </a:r>
            <a:r>
              <a:rPr lang="en-US" dirty="0"/>
              <a:t> More balanced emotional tone.</a:t>
            </a:r>
          </a:p>
          <a:p>
            <a:pPr>
              <a:buFont typeface="Arial" panose="020B0604020202020204" pitchFamily="34" charset="0"/>
              <a:buChar char="•"/>
            </a:pPr>
            <a:r>
              <a:rPr lang="en-US" b="1" dirty="0"/>
              <a:t>2010–2023:</a:t>
            </a:r>
            <a:r>
              <a:rPr lang="en-US" dirty="0"/>
              <a:t> Shift toward darker, moodier, lower-valence music.</a:t>
            </a:r>
          </a:p>
        </p:txBody>
      </p:sp>
      <p:sp>
        <p:nvSpPr>
          <p:cNvPr id="12" name="TextBox 11">
            <a:extLst>
              <a:ext uri="{FF2B5EF4-FFF2-40B4-BE49-F238E27FC236}">
                <a16:creationId xmlns:a16="http://schemas.microsoft.com/office/drawing/2014/main" id="{6911F87F-320A-4343-1BE2-D5C63F22CA04}"/>
              </a:ext>
            </a:extLst>
          </p:cNvPr>
          <p:cNvSpPr txBox="1"/>
          <p:nvPr/>
        </p:nvSpPr>
        <p:spPr>
          <a:xfrm>
            <a:off x="180473" y="5657671"/>
            <a:ext cx="6545179" cy="1200329"/>
          </a:xfrm>
          <a:prstGeom prst="rect">
            <a:avLst/>
          </a:prstGeom>
          <a:noFill/>
        </p:spPr>
        <p:txBody>
          <a:bodyPr wrap="square">
            <a:spAutoFit/>
          </a:bodyPr>
          <a:lstStyle/>
          <a:p>
            <a:pPr>
              <a:buNone/>
            </a:pPr>
            <a:r>
              <a:rPr lang="en-US" b="1" dirty="0">
                <a:highlight>
                  <a:srgbClr val="FFFF00"/>
                </a:highlight>
              </a:rPr>
              <a:t>What this means:</a:t>
            </a:r>
          </a:p>
          <a:p>
            <a:pPr>
              <a:buNone/>
            </a:pPr>
            <a:r>
              <a:rPr lang="en-US" dirty="0"/>
              <a:t>Modern music tends to express more </a:t>
            </a:r>
            <a:r>
              <a:rPr lang="en-US" b="1" dirty="0"/>
              <a:t>introspection, sadness, and emotional complexity</a:t>
            </a:r>
            <a:r>
              <a:rPr lang="en-US" dirty="0"/>
              <a:t>, compared to the </a:t>
            </a:r>
            <a:r>
              <a:rPr lang="en-US" b="1" dirty="0"/>
              <a:t>high-energy feel-good</a:t>
            </a:r>
            <a:r>
              <a:rPr lang="en-US" dirty="0"/>
              <a:t> songs of earlier decades.</a:t>
            </a:r>
          </a:p>
        </p:txBody>
      </p:sp>
      <p:sp>
        <p:nvSpPr>
          <p:cNvPr id="14" name="TextBox 13">
            <a:extLst>
              <a:ext uri="{FF2B5EF4-FFF2-40B4-BE49-F238E27FC236}">
                <a16:creationId xmlns:a16="http://schemas.microsoft.com/office/drawing/2014/main" id="{068BE2FE-4724-9775-0640-C173969B2660}"/>
              </a:ext>
            </a:extLst>
          </p:cNvPr>
          <p:cNvSpPr txBox="1"/>
          <p:nvPr/>
        </p:nvSpPr>
        <p:spPr>
          <a:xfrm>
            <a:off x="4054643" y="171334"/>
            <a:ext cx="6184230" cy="584775"/>
          </a:xfrm>
          <a:prstGeom prst="rect">
            <a:avLst/>
          </a:prstGeom>
          <a:noFill/>
        </p:spPr>
        <p:txBody>
          <a:bodyPr wrap="square">
            <a:spAutoFit/>
          </a:bodyPr>
          <a:lstStyle/>
          <a:p>
            <a:r>
              <a:rPr lang="en-US" sz="3200" b="1" dirty="0">
                <a:solidFill>
                  <a:srgbClr val="FF0000"/>
                </a:solidFill>
                <a:latin typeface="Arial Black" panose="020B0A04020102020204" pitchFamily="34" charset="0"/>
              </a:rPr>
              <a:t>Time Series Analysis</a:t>
            </a:r>
          </a:p>
        </p:txBody>
      </p:sp>
    </p:spTree>
    <p:extLst>
      <p:ext uri="{BB962C8B-B14F-4D97-AF65-F5344CB8AC3E}">
        <p14:creationId xmlns:p14="http://schemas.microsoft.com/office/powerpoint/2010/main" val="1738563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a:extLst>
              <a:ext uri="{FF2B5EF4-FFF2-40B4-BE49-F238E27FC236}">
                <a16:creationId xmlns:a16="http://schemas.microsoft.com/office/drawing/2014/main" id="{143A9539-EE4C-70E2-88D9-826D31A995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154" y="1585632"/>
            <a:ext cx="4678771" cy="271838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F3F42D0-575C-98D9-69C8-EDC4404BDEB0}"/>
              </a:ext>
            </a:extLst>
          </p:cNvPr>
          <p:cNvSpPr txBox="1"/>
          <p:nvPr/>
        </p:nvSpPr>
        <p:spPr>
          <a:xfrm>
            <a:off x="5352542" y="1098164"/>
            <a:ext cx="6593304" cy="3693319"/>
          </a:xfrm>
          <a:prstGeom prst="rect">
            <a:avLst/>
          </a:prstGeom>
          <a:noFill/>
        </p:spPr>
        <p:txBody>
          <a:bodyPr wrap="square">
            <a:spAutoFit/>
          </a:bodyPr>
          <a:lstStyle/>
          <a:p>
            <a:pPr>
              <a:buNone/>
            </a:pPr>
            <a:r>
              <a:rPr lang="en-US" b="1" dirty="0">
                <a:highlight>
                  <a:srgbClr val="FFFF00"/>
                </a:highlight>
              </a:rPr>
              <a:t>Key Observations</a:t>
            </a:r>
          </a:p>
          <a:p>
            <a:pPr>
              <a:buNone/>
            </a:pPr>
            <a:endParaRPr lang="en-US" b="1" dirty="0">
              <a:highlight>
                <a:srgbClr val="FFFF00"/>
              </a:highlight>
            </a:endParaRPr>
          </a:p>
          <a:p>
            <a:pPr>
              <a:buFont typeface="Arial" panose="020B0604020202020204" pitchFamily="34" charset="0"/>
              <a:buChar char="•"/>
            </a:pPr>
            <a:r>
              <a:rPr lang="en-US" b="1" dirty="0">
                <a:solidFill>
                  <a:srgbClr val="00B0F0"/>
                </a:solidFill>
                <a:latin typeface="Aptos Display" panose="020B0004020202020204" pitchFamily="34" charset="0"/>
              </a:rPr>
              <a:t>Early 1970s</a:t>
            </a:r>
            <a:r>
              <a:rPr lang="en-US" b="1" dirty="0">
                <a:latin typeface="Aptos Display" panose="020B0004020202020204" pitchFamily="34" charset="0"/>
              </a:rPr>
              <a:t>: Very high </a:t>
            </a:r>
            <a:r>
              <a:rPr lang="en-US" b="1" dirty="0" err="1">
                <a:latin typeface="Aptos Display" panose="020B0004020202020204" pitchFamily="34" charset="0"/>
              </a:rPr>
              <a:t>acousticness</a:t>
            </a:r>
            <a:r>
              <a:rPr lang="en-US" b="1" dirty="0">
                <a:latin typeface="Aptos Display" panose="020B0004020202020204" pitchFamily="34" charset="0"/>
              </a:rPr>
              <a:t> (0.9–1.0).</a:t>
            </a:r>
            <a:br>
              <a:rPr lang="en-US" b="1" dirty="0">
                <a:latin typeface="Aptos Display" panose="020B0004020202020204" pitchFamily="34" charset="0"/>
              </a:rPr>
            </a:br>
            <a:r>
              <a:rPr lang="en-US" b="1" dirty="0">
                <a:latin typeface="Aptos Display" panose="020B0004020202020204" pitchFamily="34" charset="0"/>
              </a:rPr>
              <a:t>→ Popular music was heavily acoustic—guitars, pianos, live band recording.</a:t>
            </a:r>
          </a:p>
          <a:p>
            <a:pPr>
              <a:buFont typeface="Arial" panose="020B0604020202020204" pitchFamily="34" charset="0"/>
              <a:buChar char="•"/>
            </a:pPr>
            <a:r>
              <a:rPr lang="en-US" b="1" dirty="0">
                <a:solidFill>
                  <a:srgbClr val="00B0F0"/>
                </a:solidFill>
                <a:latin typeface="Aptos Display" panose="020B0004020202020204" pitchFamily="34" charset="0"/>
              </a:rPr>
              <a:t>Late 1970s–1980s: </a:t>
            </a:r>
            <a:r>
              <a:rPr lang="en-US" b="1" dirty="0">
                <a:latin typeface="Aptos Display" panose="020B0004020202020204" pitchFamily="34" charset="0"/>
              </a:rPr>
              <a:t>Sharp drop into the 0.2–0.4 range.</a:t>
            </a:r>
            <a:br>
              <a:rPr lang="en-US" b="1" dirty="0">
                <a:latin typeface="Aptos Display" panose="020B0004020202020204" pitchFamily="34" charset="0"/>
              </a:rPr>
            </a:br>
            <a:r>
              <a:rPr lang="en-US" b="1" dirty="0">
                <a:latin typeface="Aptos Display" panose="020B0004020202020204" pitchFamily="34" charset="0"/>
              </a:rPr>
              <a:t>→ Reflects the shift toward synth-pop, electronic production, and digital recording.</a:t>
            </a:r>
          </a:p>
          <a:p>
            <a:pPr>
              <a:buFont typeface="Arial" panose="020B0604020202020204" pitchFamily="34" charset="0"/>
              <a:buChar char="•"/>
            </a:pPr>
            <a:r>
              <a:rPr lang="en-US" b="1" dirty="0">
                <a:solidFill>
                  <a:srgbClr val="00B0F0"/>
                </a:solidFill>
                <a:latin typeface="Aptos Display" panose="020B0004020202020204" pitchFamily="34" charset="0"/>
              </a:rPr>
              <a:t>1990s–2000s: </a:t>
            </a:r>
            <a:r>
              <a:rPr lang="en-US" b="1" dirty="0" err="1">
                <a:latin typeface="Aptos Display" panose="020B0004020202020204" pitchFamily="34" charset="0"/>
              </a:rPr>
              <a:t>Acousticness</a:t>
            </a:r>
            <a:r>
              <a:rPr lang="en-US" b="1" dirty="0">
                <a:latin typeface="Aptos Display" panose="020B0004020202020204" pitchFamily="34" charset="0"/>
              </a:rPr>
              <a:t> stays low (0.15–0.30).</a:t>
            </a:r>
            <a:br>
              <a:rPr lang="en-US" b="1" dirty="0">
                <a:latin typeface="Aptos Display" panose="020B0004020202020204" pitchFamily="34" charset="0"/>
              </a:rPr>
            </a:br>
            <a:r>
              <a:rPr lang="en-US" b="1" dirty="0">
                <a:latin typeface="Aptos Display" panose="020B0004020202020204" pitchFamily="34" charset="0"/>
              </a:rPr>
              <a:t>→ Rise of pop-rock, hip-hop, EDM influence.</a:t>
            </a:r>
          </a:p>
          <a:p>
            <a:pPr>
              <a:buFont typeface="Arial" panose="020B0604020202020204" pitchFamily="34" charset="0"/>
              <a:buChar char="•"/>
            </a:pPr>
            <a:r>
              <a:rPr lang="en-US" b="1" dirty="0">
                <a:solidFill>
                  <a:srgbClr val="00B0F0"/>
                </a:solidFill>
                <a:latin typeface="Aptos Display" panose="020B0004020202020204" pitchFamily="34" charset="0"/>
              </a:rPr>
              <a:t>2010s–2023</a:t>
            </a:r>
            <a:r>
              <a:rPr lang="en-US" b="1" dirty="0">
                <a:latin typeface="Aptos Display" panose="020B0004020202020204" pitchFamily="34" charset="0"/>
              </a:rPr>
              <a:t>: Stabilizes around 0.22–0.30, slight fluctuations.</a:t>
            </a:r>
            <a:br>
              <a:rPr lang="en-US" b="1" dirty="0">
                <a:latin typeface="Aptos Display" panose="020B0004020202020204" pitchFamily="34" charset="0"/>
              </a:rPr>
            </a:br>
            <a:r>
              <a:rPr lang="en-US" b="1" dirty="0">
                <a:latin typeface="Aptos Display" panose="020B0004020202020204" pitchFamily="34" charset="0"/>
              </a:rPr>
              <a:t>→ Modern pop uses mostly electronic production with occasional acoustic elements.</a:t>
            </a:r>
          </a:p>
        </p:txBody>
      </p:sp>
      <p:sp>
        <p:nvSpPr>
          <p:cNvPr id="6" name="TextBox 5">
            <a:extLst>
              <a:ext uri="{FF2B5EF4-FFF2-40B4-BE49-F238E27FC236}">
                <a16:creationId xmlns:a16="http://schemas.microsoft.com/office/drawing/2014/main" id="{CCAE3491-0942-D135-7152-ADC374B9BEC3}"/>
              </a:ext>
            </a:extLst>
          </p:cNvPr>
          <p:cNvSpPr txBox="1"/>
          <p:nvPr/>
        </p:nvSpPr>
        <p:spPr>
          <a:xfrm>
            <a:off x="0" y="4613518"/>
            <a:ext cx="12192000" cy="1323439"/>
          </a:xfrm>
          <a:prstGeom prst="rect">
            <a:avLst/>
          </a:prstGeom>
          <a:noFill/>
        </p:spPr>
        <p:txBody>
          <a:bodyPr wrap="square">
            <a:spAutoFit/>
          </a:bodyPr>
          <a:lstStyle/>
          <a:p>
            <a:pPr>
              <a:buNone/>
            </a:pPr>
            <a:r>
              <a:rPr lang="en-US" sz="3200" dirty="0">
                <a:latin typeface="Arial Black" panose="020B0A04020102020204" pitchFamily="34" charset="0"/>
              </a:rPr>
              <a:t>🔴</a:t>
            </a:r>
            <a:r>
              <a:rPr lang="en-US" sz="3200" b="1" dirty="0">
                <a:latin typeface="Arial Black" panose="020B0A04020102020204" pitchFamily="34" charset="0"/>
              </a:rPr>
              <a:t>Overall Meaning</a:t>
            </a:r>
          </a:p>
          <a:p>
            <a:pPr>
              <a:buNone/>
            </a:pPr>
            <a:r>
              <a:rPr lang="en-US" sz="2400" b="1" dirty="0"/>
              <a:t>Popular songs have become less acoustic over the decades as music production shifted from live instruments to digital/electronic tools.</a:t>
            </a:r>
          </a:p>
        </p:txBody>
      </p:sp>
      <p:sp>
        <p:nvSpPr>
          <p:cNvPr id="8" name="TextBox 7">
            <a:extLst>
              <a:ext uri="{FF2B5EF4-FFF2-40B4-BE49-F238E27FC236}">
                <a16:creationId xmlns:a16="http://schemas.microsoft.com/office/drawing/2014/main" id="{62115781-5A02-DDBF-E344-D688AE5A3623}"/>
              </a:ext>
            </a:extLst>
          </p:cNvPr>
          <p:cNvSpPr txBox="1"/>
          <p:nvPr/>
        </p:nvSpPr>
        <p:spPr>
          <a:xfrm>
            <a:off x="3473116" y="203887"/>
            <a:ext cx="6176210" cy="584775"/>
          </a:xfrm>
          <a:prstGeom prst="rect">
            <a:avLst/>
          </a:prstGeom>
          <a:noFill/>
        </p:spPr>
        <p:txBody>
          <a:bodyPr wrap="square">
            <a:spAutoFit/>
          </a:bodyPr>
          <a:lstStyle/>
          <a:p>
            <a:r>
              <a:rPr lang="en-US" sz="3200" b="1" dirty="0">
                <a:solidFill>
                  <a:srgbClr val="FF0000"/>
                </a:solidFill>
                <a:latin typeface="Arial Black" panose="020B0A04020102020204" pitchFamily="34" charset="0"/>
              </a:rPr>
              <a:t>Time Series Analysis</a:t>
            </a:r>
          </a:p>
        </p:txBody>
      </p:sp>
    </p:spTree>
    <p:extLst>
      <p:ext uri="{BB962C8B-B14F-4D97-AF65-F5344CB8AC3E}">
        <p14:creationId xmlns:p14="http://schemas.microsoft.com/office/powerpoint/2010/main" val="21524615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B42D8F-9588-932A-A42E-0DBBD1690EBE}"/>
              </a:ext>
            </a:extLst>
          </p:cNvPr>
          <p:cNvPicPr>
            <a:picLocks noChangeAspect="1"/>
          </p:cNvPicPr>
          <p:nvPr/>
        </p:nvPicPr>
        <p:blipFill>
          <a:blip r:embed="rId2"/>
          <a:stretch>
            <a:fillRect/>
          </a:stretch>
        </p:blipFill>
        <p:spPr>
          <a:xfrm>
            <a:off x="17018" y="960583"/>
            <a:ext cx="4855723" cy="2957245"/>
          </a:xfrm>
          <a:prstGeom prst="rect">
            <a:avLst/>
          </a:prstGeom>
        </p:spPr>
      </p:pic>
      <p:sp>
        <p:nvSpPr>
          <p:cNvPr id="5" name="TextBox 4">
            <a:extLst>
              <a:ext uri="{FF2B5EF4-FFF2-40B4-BE49-F238E27FC236}">
                <a16:creationId xmlns:a16="http://schemas.microsoft.com/office/drawing/2014/main" id="{89726B4E-3E62-A887-E789-387CBFB2CE73}"/>
              </a:ext>
            </a:extLst>
          </p:cNvPr>
          <p:cNvSpPr txBox="1"/>
          <p:nvPr/>
        </p:nvSpPr>
        <p:spPr>
          <a:xfrm>
            <a:off x="4956037" y="922844"/>
            <a:ext cx="7571874" cy="400110"/>
          </a:xfrm>
          <a:prstGeom prst="rect">
            <a:avLst/>
          </a:prstGeom>
          <a:noFill/>
        </p:spPr>
        <p:txBody>
          <a:bodyPr wrap="square">
            <a:spAutoFit/>
          </a:bodyPr>
          <a:lstStyle/>
          <a:p>
            <a:r>
              <a:rPr lang="en-US" sz="2000" dirty="0">
                <a:solidFill>
                  <a:srgbClr val="C00000"/>
                </a:solidFill>
                <a:latin typeface="Arial Black" panose="020B0A04020102020204" pitchFamily="34" charset="0"/>
              </a:rPr>
              <a:t>Outlier Analysis of the Year Distribution Plot</a:t>
            </a:r>
          </a:p>
        </p:txBody>
      </p:sp>
      <p:sp>
        <p:nvSpPr>
          <p:cNvPr id="11" name="TextBox 10">
            <a:extLst>
              <a:ext uri="{FF2B5EF4-FFF2-40B4-BE49-F238E27FC236}">
                <a16:creationId xmlns:a16="http://schemas.microsoft.com/office/drawing/2014/main" id="{B9B1CCB5-A74F-3114-B4E7-64C69BA6D46F}"/>
              </a:ext>
            </a:extLst>
          </p:cNvPr>
          <p:cNvSpPr txBox="1"/>
          <p:nvPr/>
        </p:nvSpPr>
        <p:spPr>
          <a:xfrm>
            <a:off x="5784642" y="1344612"/>
            <a:ext cx="6144126" cy="1938992"/>
          </a:xfrm>
          <a:prstGeom prst="rect">
            <a:avLst/>
          </a:prstGeom>
          <a:noFill/>
        </p:spPr>
        <p:txBody>
          <a:bodyPr wrap="square">
            <a:spAutoFit/>
          </a:bodyPr>
          <a:lstStyle/>
          <a:p>
            <a:pPr>
              <a:buNone/>
            </a:pPr>
            <a:r>
              <a:rPr lang="en-US" sz="2000" b="1" dirty="0"/>
              <a:t>The distribution of song release years is highly skewed toward recent years. Older years (1970–1990) appear as low-frequency outliers, while the most recent years—especially 2023—form strong high-frequency outliers. This indicates either an explosion in modern music production or dataset bias toward recent tracks</a:t>
            </a:r>
            <a:r>
              <a:rPr lang="en-US" dirty="0"/>
              <a:t>.</a:t>
            </a:r>
          </a:p>
        </p:txBody>
      </p:sp>
      <p:pic>
        <p:nvPicPr>
          <p:cNvPr id="12" name="Picture 11">
            <a:extLst>
              <a:ext uri="{FF2B5EF4-FFF2-40B4-BE49-F238E27FC236}">
                <a16:creationId xmlns:a16="http://schemas.microsoft.com/office/drawing/2014/main" id="{BD9FD17B-CA2A-102C-E355-4A83691BA0BF}"/>
              </a:ext>
            </a:extLst>
          </p:cNvPr>
          <p:cNvPicPr>
            <a:picLocks noChangeAspect="1"/>
          </p:cNvPicPr>
          <p:nvPr/>
        </p:nvPicPr>
        <p:blipFill>
          <a:blip r:embed="rId3"/>
          <a:stretch>
            <a:fillRect/>
          </a:stretch>
        </p:blipFill>
        <p:spPr>
          <a:xfrm>
            <a:off x="7081128" y="3597854"/>
            <a:ext cx="4692804" cy="2846262"/>
          </a:xfrm>
          <a:prstGeom prst="rect">
            <a:avLst/>
          </a:prstGeom>
        </p:spPr>
      </p:pic>
      <p:sp>
        <p:nvSpPr>
          <p:cNvPr id="14" name="TextBox 13">
            <a:extLst>
              <a:ext uri="{FF2B5EF4-FFF2-40B4-BE49-F238E27FC236}">
                <a16:creationId xmlns:a16="http://schemas.microsoft.com/office/drawing/2014/main" id="{B3211A2D-7D7C-4F53-D4AE-526D1791EF08}"/>
              </a:ext>
            </a:extLst>
          </p:cNvPr>
          <p:cNvSpPr txBox="1"/>
          <p:nvPr/>
        </p:nvSpPr>
        <p:spPr>
          <a:xfrm>
            <a:off x="263232" y="4236009"/>
            <a:ext cx="7090611" cy="707886"/>
          </a:xfrm>
          <a:prstGeom prst="rect">
            <a:avLst/>
          </a:prstGeom>
          <a:noFill/>
        </p:spPr>
        <p:txBody>
          <a:bodyPr wrap="square">
            <a:spAutoFit/>
          </a:bodyPr>
          <a:lstStyle/>
          <a:p>
            <a:r>
              <a:rPr lang="en-US" sz="2000" b="1" dirty="0">
                <a:solidFill>
                  <a:srgbClr val="C00000"/>
                </a:solidFill>
                <a:latin typeface="Arial Black" panose="020B0A04020102020204" pitchFamily="34" charset="0"/>
              </a:rPr>
              <a:t>Outlier Analysis of Song Release Years (IQR Method)</a:t>
            </a:r>
          </a:p>
        </p:txBody>
      </p:sp>
      <p:sp>
        <p:nvSpPr>
          <p:cNvPr id="16" name="TextBox 15">
            <a:extLst>
              <a:ext uri="{FF2B5EF4-FFF2-40B4-BE49-F238E27FC236}">
                <a16:creationId xmlns:a16="http://schemas.microsoft.com/office/drawing/2014/main" id="{91909769-0204-CE40-B3A3-EE4FE715E4DF}"/>
              </a:ext>
            </a:extLst>
          </p:cNvPr>
          <p:cNvSpPr txBox="1"/>
          <p:nvPr/>
        </p:nvSpPr>
        <p:spPr>
          <a:xfrm>
            <a:off x="145353" y="4941229"/>
            <a:ext cx="6817896" cy="1754326"/>
          </a:xfrm>
          <a:prstGeom prst="rect">
            <a:avLst/>
          </a:prstGeom>
          <a:noFill/>
        </p:spPr>
        <p:txBody>
          <a:bodyPr wrap="square">
            <a:spAutoFit/>
          </a:bodyPr>
          <a:lstStyle/>
          <a:p>
            <a:r>
              <a:rPr lang="en-US" b="1" dirty="0"/>
              <a:t>Using the IQR method, earlier years (1970–1995) appear as outliers due to low track counts in the dataset. From the mid-90s onward, especially after 2010, the number of songs per year becomes stable and consistently high, eliminating outliers. This shift reflects the expansion of digital music and improved dataset completeness in recent years.</a:t>
            </a:r>
          </a:p>
        </p:txBody>
      </p:sp>
      <p:sp>
        <p:nvSpPr>
          <p:cNvPr id="18" name="TextBox 17">
            <a:extLst>
              <a:ext uri="{FF2B5EF4-FFF2-40B4-BE49-F238E27FC236}">
                <a16:creationId xmlns:a16="http://schemas.microsoft.com/office/drawing/2014/main" id="{18EAC61B-3842-7320-359D-5E98A4A3CE4B}"/>
              </a:ext>
            </a:extLst>
          </p:cNvPr>
          <p:cNvSpPr txBox="1"/>
          <p:nvPr/>
        </p:nvSpPr>
        <p:spPr>
          <a:xfrm>
            <a:off x="3883165" y="57628"/>
            <a:ext cx="6160168" cy="584775"/>
          </a:xfrm>
          <a:prstGeom prst="rect">
            <a:avLst/>
          </a:prstGeom>
          <a:noFill/>
        </p:spPr>
        <p:txBody>
          <a:bodyPr wrap="square">
            <a:spAutoFit/>
          </a:bodyPr>
          <a:lstStyle/>
          <a:p>
            <a:r>
              <a:rPr lang="en-US" sz="3200" dirty="0">
                <a:solidFill>
                  <a:srgbClr val="00B050"/>
                </a:solidFill>
                <a:latin typeface="Arial Black" panose="020B0A04020102020204" pitchFamily="34" charset="0"/>
              </a:rPr>
              <a:t>Outlier Analysis </a:t>
            </a:r>
            <a:endParaRPr lang="en-US" sz="3200" dirty="0">
              <a:solidFill>
                <a:srgbClr val="00B050"/>
              </a:solidFill>
            </a:endParaRPr>
          </a:p>
        </p:txBody>
      </p:sp>
    </p:spTree>
    <p:extLst>
      <p:ext uri="{BB962C8B-B14F-4D97-AF65-F5344CB8AC3E}">
        <p14:creationId xmlns:p14="http://schemas.microsoft.com/office/powerpoint/2010/main" val="3693057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98C992-CE60-4DE4-7414-CD37BDF033A1}"/>
              </a:ext>
            </a:extLst>
          </p:cNvPr>
          <p:cNvPicPr>
            <a:picLocks noChangeAspect="1"/>
          </p:cNvPicPr>
          <p:nvPr/>
        </p:nvPicPr>
        <p:blipFill>
          <a:blip r:embed="rId2"/>
          <a:stretch>
            <a:fillRect/>
          </a:stretch>
        </p:blipFill>
        <p:spPr>
          <a:xfrm>
            <a:off x="0" y="1556625"/>
            <a:ext cx="5983705" cy="2678491"/>
          </a:xfrm>
          <a:prstGeom prst="rect">
            <a:avLst/>
          </a:prstGeom>
        </p:spPr>
      </p:pic>
      <p:sp>
        <p:nvSpPr>
          <p:cNvPr id="5" name="TextBox 4">
            <a:extLst>
              <a:ext uri="{FF2B5EF4-FFF2-40B4-BE49-F238E27FC236}">
                <a16:creationId xmlns:a16="http://schemas.microsoft.com/office/drawing/2014/main" id="{A305F916-E1B1-87E0-7631-B901DF6570EF}"/>
              </a:ext>
            </a:extLst>
          </p:cNvPr>
          <p:cNvSpPr txBox="1"/>
          <p:nvPr/>
        </p:nvSpPr>
        <p:spPr>
          <a:xfrm>
            <a:off x="6096000" y="1159128"/>
            <a:ext cx="6096000" cy="523220"/>
          </a:xfrm>
          <a:prstGeom prst="rect">
            <a:avLst/>
          </a:prstGeom>
          <a:noFill/>
        </p:spPr>
        <p:txBody>
          <a:bodyPr wrap="square">
            <a:spAutoFit/>
          </a:bodyPr>
          <a:lstStyle/>
          <a:p>
            <a:r>
              <a:rPr lang="en-US" sz="2800" b="1" dirty="0">
                <a:solidFill>
                  <a:schemeClr val="accent3">
                    <a:lumMod val="50000"/>
                  </a:schemeClr>
                </a:solidFill>
                <a:highlight>
                  <a:srgbClr val="FFFF00"/>
                </a:highlight>
              </a:rPr>
              <a:t>Outlier Analysis of the “Year” Boxplot</a:t>
            </a:r>
          </a:p>
        </p:txBody>
      </p:sp>
      <p:sp>
        <p:nvSpPr>
          <p:cNvPr id="7" name="TextBox 6">
            <a:extLst>
              <a:ext uri="{FF2B5EF4-FFF2-40B4-BE49-F238E27FC236}">
                <a16:creationId xmlns:a16="http://schemas.microsoft.com/office/drawing/2014/main" id="{CF4F8BF5-D4CD-64AE-3C96-2491818E08E5}"/>
              </a:ext>
            </a:extLst>
          </p:cNvPr>
          <p:cNvSpPr txBox="1"/>
          <p:nvPr/>
        </p:nvSpPr>
        <p:spPr>
          <a:xfrm>
            <a:off x="425116" y="4632613"/>
            <a:ext cx="11085094" cy="1938992"/>
          </a:xfrm>
          <a:prstGeom prst="rect">
            <a:avLst/>
          </a:prstGeom>
          <a:noFill/>
        </p:spPr>
        <p:txBody>
          <a:bodyPr wrap="square">
            <a:spAutoFit/>
          </a:bodyPr>
          <a:lstStyle/>
          <a:p>
            <a:r>
              <a:rPr lang="en-US" sz="2400" b="1" dirty="0">
                <a:solidFill>
                  <a:srgbClr val="7030A0"/>
                </a:solidFill>
                <a:latin typeface="Aptos Narrow" panose="020B0004020202020204" pitchFamily="34" charset="0"/>
              </a:rPr>
              <a:t>The dataset is highly skewed toward recent music, with the majority of songs released between 2010 and 2022. Earlier years—from the 1970s through the 1990s—appear as outliers because they are much less represented in the dataset. This reflects either a bias in Spotify’s catalog, user listening behavior, or the dataset itself sampling modern music more heavily</a:t>
            </a:r>
          </a:p>
        </p:txBody>
      </p:sp>
      <p:sp>
        <p:nvSpPr>
          <p:cNvPr id="9" name="TextBox 8">
            <a:extLst>
              <a:ext uri="{FF2B5EF4-FFF2-40B4-BE49-F238E27FC236}">
                <a16:creationId xmlns:a16="http://schemas.microsoft.com/office/drawing/2014/main" id="{3C5D902C-699F-6B84-E0D4-0900F954B4F8}"/>
              </a:ext>
            </a:extLst>
          </p:cNvPr>
          <p:cNvSpPr txBox="1"/>
          <p:nvPr/>
        </p:nvSpPr>
        <p:spPr>
          <a:xfrm>
            <a:off x="6292380" y="1785556"/>
            <a:ext cx="6096000" cy="1938992"/>
          </a:xfrm>
          <a:prstGeom prst="rect">
            <a:avLst/>
          </a:prstGeom>
          <a:noFill/>
        </p:spPr>
        <p:txBody>
          <a:bodyPr wrap="square">
            <a:spAutoFit/>
          </a:bodyPr>
          <a:lstStyle/>
          <a:p>
            <a:pPr>
              <a:buNone/>
            </a:pPr>
            <a:r>
              <a:rPr lang="en-US" sz="2400" b="1" dirty="0">
                <a:solidFill>
                  <a:schemeClr val="accent2">
                    <a:lumMod val="50000"/>
                  </a:schemeClr>
                </a:solidFill>
                <a:latin typeface="Arial Narrow" panose="020B0606020202030204" pitchFamily="34" charset="0"/>
              </a:rPr>
              <a:t>Key Takeaways</a:t>
            </a:r>
          </a:p>
          <a:p>
            <a:pPr>
              <a:buNone/>
            </a:pPr>
            <a:endParaRPr lang="en-US" sz="2400" b="1" dirty="0">
              <a:solidFill>
                <a:schemeClr val="accent2">
                  <a:lumMod val="50000"/>
                </a:schemeClr>
              </a:solidFill>
              <a:latin typeface="Arial Narrow" panose="020B0606020202030204" pitchFamily="34" charset="0"/>
            </a:endParaRPr>
          </a:p>
          <a:p>
            <a:pPr>
              <a:buFont typeface="Arial" panose="020B0604020202020204" pitchFamily="34" charset="0"/>
              <a:buChar char="•"/>
            </a:pPr>
            <a:r>
              <a:rPr lang="en-US" b="1" dirty="0">
                <a:solidFill>
                  <a:schemeClr val="tx1">
                    <a:lumMod val="85000"/>
                    <a:lumOff val="15000"/>
                  </a:schemeClr>
                </a:solidFill>
              </a:rPr>
              <a:t>✔ Modern years dominate the dataset</a:t>
            </a:r>
          </a:p>
          <a:p>
            <a:pPr>
              <a:buFont typeface="Arial" panose="020B0604020202020204" pitchFamily="34" charset="0"/>
              <a:buChar char="•"/>
            </a:pPr>
            <a:r>
              <a:rPr lang="en-US" b="1" dirty="0">
                <a:solidFill>
                  <a:schemeClr val="tx1">
                    <a:lumMod val="85000"/>
                    <a:lumOff val="15000"/>
                  </a:schemeClr>
                </a:solidFill>
              </a:rPr>
              <a:t>✔ Older years are statistically rare → flagged as outliers</a:t>
            </a:r>
          </a:p>
          <a:p>
            <a:pPr>
              <a:buFont typeface="Arial" panose="020B0604020202020204" pitchFamily="34" charset="0"/>
              <a:buChar char="•"/>
            </a:pPr>
            <a:r>
              <a:rPr lang="en-US" b="1" dirty="0">
                <a:solidFill>
                  <a:schemeClr val="tx1">
                    <a:lumMod val="85000"/>
                    <a:lumOff val="15000"/>
                  </a:schemeClr>
                </a:solidFill>
              </a:rPr>
              <a:t>✔ The boxplot shows clear time-based imbalance</a:t>
            </a:r>
          </a:p>
          <a:p>
            <a:pPr>
              <a:buFont typeface="Arial" panose="020B0604020202020204" pitchFamily="34" charset="0"/>
              <a:buChar char="•"/>
            </a:pPr>
            <a:r>
              <a:rPr lang="en-US" b="1" dirty="0">
                <a:solidFill>
                  <a:schemeClr val="tx1">
                    <a:lumMod val="85000"/>
                    <a:lumOff val="15000"/>
                  </a:schemeClr>
                </a:solidFill>
              </a:rPr>
              <a:t>✔ Useful when explaining historical biases in your dataset</a:t>
            </a:r>
          </a:p>
        </p:txBody>
      </p:sp>
      <p:sp>
        <p:nvSpPr>
          <p:cNvPr id="11" name="TextBox 10">
            <a:extLst>
              <a:ext uri="{FF2B5EF4-FFF2-40B4-BE49-F238E27FC236}">
                <a16:creationId xmlns:a16="http://schemas.microsoft.com/office/drawing/2014/main" id="{DB64E54D-8228-23FC-163C-3079BA6BB12E}"/>
              </a:ext>
            </a:extLst>
          </p:cNvPr>
          <p:cNvSpPr txBox="1"/>
          <p:nvPr/>
        </p:nvSpPr>
        <p:spPr>
          <a:xfrm>
            <a:off x="4058653" y="83217"/>
            <a:ext cx="6192252" cy="584775"/>
          </a:xfrm>
          <a:prstGeom prst="rect">
            <a:avLst/>
          </a:prstGeom>
          <a:noFill/>
        </p:spPr>
        <p:txBody>
          <a:bodyPr wrap="square">
            <a:spAutoFit/>
          </a:bodyPr>
          <a:lstStyle/>
          <a:p>
            <a:r>
              <a:rPr lang="en-US" sz="3200" dirty="0">
                <a:solidFill>
                  <a:srgbClr val="00B050"/>
                </a:solidFill>
                <a:latin typeface="Arial Black" panose="020B0A04020102020204" pitchFamily="34" charset="0"/>
              </a:rPr>
              <a:t>Outlier Analysis </a:t>
            </a:r>
            <a:endParaRPr lang="en-US" sz="3200" dirty="0">
              <a:solidFill>
                <a:srgbClr val="00B050"/>
              </a:solidFill>
            </a:endParaRPr>
          </a:p>
        </p:txBody>
      </p:sp>
    </p:spTree>
    <p:extLst>
      <p:ext uri="{BB962C8B-B14F-4D97-AF65-F5344CB8AC3E}">
        <p14:creationId xmlns:p14="http://schemas.microsoft.com/office/powerpoint/2010/main" val="29281337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FCAD72-16D9-2CC0-09FE-0E73584F03A6}"/>
              </a:ext>
            </a:extLst>
          </p:cNvPr>
          <p:cNvPicPr>
            <a:picLocks noChangeAspect="1"/>
          </p:cNvPicPr>
          <p:nvPr/>
        </p:nvPicPr>
        <p:blipFill>
          <a:blip r:embed="rId2"/>
          <a:stretch>
            <a:fillRect/>
          </a:stretch>
        </p:blipFill>
        <p:spPr>
          <a:xfrm>
            <a:off x="0" y="984425"/>
            <a:ext cx="5438274" cy="2759242"/>
          </a:xfrm>
          <a:prstGeom prst="rect">
            <a:avLst/>
          </a:prstGeom>
        </p:spPr>
      </p:pic>
      <p:pic>
        <p:nvPicPr>
          <p:cNvPr id="6" name="Picture 5">
            <a:extLst>
              <a:ext uri="{FF2B5EF4-FFF2-40B4-BE49-F238E27FC236}">
                <a16:creationId xmlns:a16="http://schemas.microsoft.com/office/drawing/2014/main" id="{AAB7E772-A595-5C49-58A9-F1C8E8F7145F}"/>
              </a:ext>
            </a:extLst>
          </p:cNvPr>
          <p:cNvPicPr>
            <a:picLocks noChangeAspect="1"/>
          </p:cNvPicPr>
          <p:nvPr/>
        </p:nvPicPr>
        <p:blipFill>
          <a:blip r:embed="rId3"/>
          <a:stretch>
            <a:fillRect/>
          </a:stretch>
        </p:blipFill>
        <p:spPr>
          <a:xfrm>
            <a:off x="6096000" y="3956376"/>
            <a:ext cx="6096000" cy="2639350"/>
          </a:xfrm>
          <a:prstGeom prst="rect">
            <a:avLst/>
          </a:prstGeom>
        </p:spPr>
      </p:pic>
      <p:sp>
        <p:nvSpPr>
          <p:cNvPr id="8" name="TextBox 7">
            <a:extLst>
              <a:ext uri="{FF2B5EF4-FFF2-40B4-BE49-F238E27FC236}">
                <a16:creationId xmlns:a16="http://schemas.microsoft.com/office/drawing/2014/main" id="{FA390BC6-3F31-5D2A-5F35-ACED299AB83E}"/>
              </a:ext>
            </a:extLst>
          </p:cNvPr>
          <p:cNvSpPr txBox="1"/>
          <p:nvPr/>
        </p:nvSpPr>
        <p:spPr>
          <a:xfrm>
            <a:off x="6096000" y="1003504"/>
            <a:ext cx="6096000" cy="461665"/>
          </a:xfrm>
          <a:prstGeom prst="rect">
            <a:avLst/>
          </a:prstGeom>
          <a:noFill/>
        </p:spPr>
        <p:txBody>
          <a:bodyPr wrap="square">
            <a:spAutoFit/>
          </a:bodyPr>
          <a:lstStyle/>
          <a:p>
            <a:r>
              <a:rPr lang="en-US" sz="2400" b="1" dirty="0">
                <a:highlight>
                  <a:srgbClr val="00FFFF"/>
                </a:highlight>
              </a:rPr>
              <a:t>Analysis of the Violin Plot for </a:t>
            </a:r>
            <a:r>
              <a:rPr lang="en-US" sz="2400" b="1" i="1" dirty="0">
                <a:highlight>
                  <a:srgbClr val="00FFFF"/>
                </a:highlight>
              </a:rPr>
              <a:t>Year</a:t>
            </a:r>
            <a:endParaRPr lang="en-US" sz="2400" b="1" dirty="0">
              <a:highlight>
                <a:srgbClr val="00FFFF"/>
              </a:highlight>
            </a:endParaRPr>
          </a:p>
        </p:txBody>
      </p:sp>
      <p:sp>
        <p:nvSpPr>
          <p:cNvPr id="10" name="TextBox 9">
            <a:extLst>
              <a:ext uri="{FF2B5EF4-FFF2-40B4-BE49-F238E27FC236}">
                <a16:creationId xmlns:a16="http://schemas.microsoft.com/office/drawing/2014/main" id="{4906C2B0-3F93-3A53-838D-63D45C202892}"/>
              </a:ext>
            </a:extLst>
          </p:cNvPr>
          <p:cNvSpPr txBox="1"/>
          <p:nvPr/>
        </p:nvSpPr>
        <p:spPr>
          <a:xfrm>
            <a:off x="5951622" y="1630626"/>
            <a:ext cx="6240378" cy="2031325"/>
          </a:xfrm>
          <a:prstGeom prst="rect">
            <a:avLst/>
          </a:prstGeom>
          <a:noFill/>
        </p:spPr>
        <p:txBody>
          <a:bodyPr wrap="square">
            <a:spAutoFit/>
          </a:bodyPr>
          <a:lstStyle/>
          <a:p>
            <a:r>
              <a:rPr lang="en-US" b="1" dirty="0">
                <a:solidFill>
                  <a:schemeClr val="accent6">
                    <a:lumMod val="75000"/>
                  </a:schemeClr>
                </a:solidFill>
              </a:rPr>
              <a:t>The violin plot shows that the dataset is heavily dominated by modern music.</a:t>
            </a:r>
            <a:br>
              <a:rPr lang="en-US" b="1" dirty="0">
                <a:solidFill>
                  <a:schemeClr val="accent6">
                    <a:lumMod val="75000"/>
                  </a:schemeClr>
                </a:solidFill>
              </a:rPr>
            </a:br>
            <a:r>
              <a:rPr lang="en-US" b="1" dirty="0">
                <a:solidFill>
                  <a:schemeClr val="accent6">
                    <a:lumMod val="75000"/>
                  </a:schemeClr>
                </a:solidFill>
              </a:rPr>
              <a:t>Most songs come from 2010–2023, with a very dense concentration in recent years.</a:t>
            </a:r>
            <a:br>
              <a:rPr lang="en-US" b="1" dirty="0">
                <a:solidFill>
                  <a:schemeClr val="accent6">
                    <a:lumMod val="75000"/>
                  </a:schemeClr>
                </a:solidFill>
              </a:rPr>
            </a:br>
            <a:r>
              <a:rPr lang="en-US" b="1" dirty="0">
                <a:solidFill>
                  <a:schemeClr val="accent6">
                    <a:lumMod val="75000"/>
                  </a:schemeClr>
                </a:solidFill>
              </a:rPr>
              <a:t>Older decades (1970–2000) are sparsely represented.</a:t>
            </a:r>
            <a:br>
              <a:rPr lang="en-US" b="1" dirty="0">
                <a:solidFill>
                  <a:schemeClr val="accent6">
                    <a:lumMod val="75000"/>
                  </a:schemeClr>
                </a:solidFill>
              </a:rPr>
            </a:br>
            <a:r>
              <a:rPr lang="en-US" b="1" dirty="0">
                <a:solidFill>
                  <a:schemeClr val="accent6">
                    <a:lumMod val="75000"/>
                  </a:schemeClr>
                </a:solidFill>
              </a:rPr>
              <a:t>The distribution is strongly right-skewed, highlighting the rapid growth of music production and streaming in the last decade.</a:t>
            </a:r>
          </a:p>
        </p:txBody>
      </p:sp>
      <p:sp>
        <p:nvSpPr>
          <p:cNvPr id="12" name="TextBox 11">
            <a:extLst>
              <a:ext uri="{FF2B5EF4-FFF2-40B4-BE49-F238E27FC236}">
                <a16:creationId xmlns:a16="http://schemas.microsoft.com/office/drawing/2014/main" id="{FCC78141-2175-B19D-210B-298333C0E94F}"/>
              </a:ext>
            </a:extLst>
          </p:cNvPr>
          <p:cNvSpPr txBox="1"/>
          <p:nvPr/>
        </p:nvSpPr>
        <p:spPr>
          <a:xfrm>
            <a:off x="0" y="3956376"/>
            <a:ext cx="6240378" cy="461665"/>
          </a:xfrm>
          <a:prstGeom prst="rect">
            <a:avLst/>
          </a:prstGeom>
          <a:noFill/>
        </p:spPr>
        <p:txBody>
          <a:bodyPr wrap="square">
            <a:spAutoFit/>
          </a:bodyPr>
          <a:lstStyle/>
          <a:p>
            <a:r>
              <a:rPr lang="en-US" sz="2400" b="1" dirty="0">
                <a:highlight>
                  <a:srgbClr val="00FFFF"/>
                </a:highlight>
              </a:rPr>
              <a:t>Analysis of the Violin Plot for </a:t>
            </a:r>
            <a:r>
              <a:rPr lang="en-US" sz="2400" b="1" dirty="0" err="1">
                <a:highlight>
                  <a:srgbClr val="00FFFF"/>
                </a:highlight>
              </a:rPr>
              <a:t>Acousticness</a:t>
            </a:r>
            <a:endParaRPr lang="en-US" sz="2400" b="1" dirty="0">
              <a:highlight>
                <a:srgbClr val="00FFFF"/>
              </a:highlight>
            </a:endParaRPr>
          </a:p>
        </p:txBody>
      </p:sp>
      <p:sp>
        <p:nvSpPr>
          <p:cNvPr id="14" name="TextBox 13">
            <a:extLst>
              <a:ext uri="{FF2B5EF4-FFF2-40B4-BE49-F238E27FC236}">
                <a16:creationId xmlns:a16="http://schemas.microsoft.com/office/drawing/2014/main" id="{7F395DE9-AD00-8AA4-D777-626AFA384804}"/>
              </a:ext>
            </a:extLst>
          </p:cNvPr>
          <p:cNvSpPr txBox="1"/>
          <p:nvPr/>
        </p:nvSpPr>
        <p:spPr>
          <a:xfrm>
            <a:off x="83482" y="4491221"/>
            <a:ext cx="5518484" cy="2031325"/>
          </a:xfrm>
          <a:prstGeom prst="rect">
            <a:avLst/>
          </a:prstGeom>
          <a:noFill/>
        </p:spPr>
        <p:txBody>
          <a:bodyPr wrap="square">
            <a:spAutoFit/>
          </a:bodyPr>
          <a:lstStyle/>
          <a:p>
            <a:r>
              <a:rPr lang="en-US" b="1" dirty="0"/>
              <a:t>The violin plot shows that most popular tracks are low </a:t>
            </a:r>
            <a:r>
              <a:rPr lang="en-US" b="1" dirty="0">
                <a:solidFill>
                  <a:schemeClr val="accent6">
                    <a:lumMod val="75000"/>
                  </a:schemeClr>
                </a:solidFill>
              </a:rPr>
              <a:t>in </a:t>
            </a:r>
            <a:r>
              <a:rPr lang="en-US" b="1" dirty="0" err="1">
                <a:solidFill>
                  <a:schemeClr val="accent6">
                    <a:lumMod val="75000"/>
                  </a:schemeClr>
                </a:solidFill>
              </a:rPr>
              <a:t>acousticness</a:t>
            </a:r>
            <a:r>
              <a:rPr lang="en-US" b="1" dirty="0">
                <a:solidFill>
                  <a:schemeClr val="accent6">
                    <a:lumMod val="75000"/>
                  </a:schemeClr>
                </a:solidFill>
              </a:rPr>
              <a:t>, clustering between 0.1 and 0.4. The median value is around 0.3, indicating that typical songs contain only moderate acoustic elements. Highly acoustic tracks (above 0.8) exist but are rare. The distribution is right-skewed, reflecting the dominance of electronically produced music in modern playlists</a:t>
            </a:r>
          </a:p>
        </p:txBody>
      </p:sp>
      <p:sp>
        <p:nvSpPr>
          <p:cNvPr id="16" name="TextBox 15">
            <a:extLst>
              <a:ext uri="{FF2B5EF4-FFF2-40B4-BE49-F238E27FC236}">
                <a16:creationId xmlns:a16="http://schemas.microsoft.com/office/drawing/2014/main" id="{47FEC922-A28E-BC24-260B-6F240AA6537D}"/>
              </a:ext>
            </a:extLst>
          </p:cNvPr>
          <p:cNvSpPr txBox="1"/>
          <p:nvPr/>
        </p:nvSpPr>
        <p:spPr>
          <a:xfrm>
            <a:off x="4219073" y="22384"/>
            <a:ext cx="6288504" cy="584775"/>
          </a:xfrm>
          <a:prstGeom prst="rect">
            <a:avLst/>
          </a:prstGeom>
          <a:noFill/>
        </p:spPr>
        <p:txBody>
          <a:bodyPr wrap="square">
            <a:spAutoFit/>
          </a:bodyPr>
          <a:lstStyle/>
          <a:p>
            <a:r>
              <a:rPr lang="en-US" sz="3200" dirty="0">
                <a:solidFill>
                  <a:srgbClr val="00B050"/>
                </a:solidFill>
                <a:latin typeface="Arial Black" panose="020B0A04020102020204" pitchFamily="34" charset="0"/>
              </a:rPr>
              <a:t>Outlier Analysis </a:t>
            </a:r>
            <a:endParaRPr lang="en-US" sz="3200" dirty="0">
              <a:solidFill>
                <a:srgbClr val="00B050"/>
              </a:solidFill>
            </a:endParaRPr>
          </a:p>
        </p:txBody>
      </p:sp>
    </p:spTree>
    <p:extLst>
      <p:ext uri="{BB962C8B-B14F-4D97-AF65-F5344CB8AC3E}">
        <p14:creationId xmlns:p14="http://schemas.microsoft.com/office/powerpoint/2010/main" val="24731800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70D5C1-B9E2-467C-63B0-5FFE225CF2A7}"/>
              </a:ext>
            </a:extLst>
          </p:cNvPr>
          <p:cNvPicPr>
            <a:picLocks noChangeAspect="1"/>
          </p:cNvPicPr>
          <p:nvPr/>
        </p:nvPicPr>
        <p:blipFill>
          <a:blip r:embed="rId2"/>
          <a:stretch>
            <a:fillRect/>
          </a:stretch>
        </p:blipFill>
        <p:spPr>
          <a:xfrm>
            <a:off x="224590" y="2302619"/>
            <a:ext cx="5187143" cy="3199607"/>
          </a:xfrm>
          <a:prstGeom prst="rect">
            <a:avLst/>
          </a:prstGeom>
        </p:spPr>
      </p:pic>
      <p:sp>
        <p:nvSpPr>
          <p:cNvPr id="6" name="TextBox 5">
            <a:extLst>
              <a:ext uri="{FF2B5EF4-FFF2-40B4-BE49-F238E27FC236}">
                <a16:creationId xmlns:a16="http://schemas.microsoft.com/office/drawing/2014/main" id="{1CF1B5A4-AF4D-D7ED-DBEF-915916CE43BF}"/>
              </a:ext>
            </a:extLst>
          </p:cNvPr>
          <p:cNvSpPr txBox="1"/>
          <p:nvPr/>
        </p:nvSpPr>
        <p:spPr>
          <a:xfrm>
            <a:off x="1171073" y="1355774"/>
            <a:ext cx="10603832" cy="473422"/>
          </a:xfrm>
          <a:prstGeom prst="rect">
            <a:avLst/>
          </a:prstGeom>
          <a:noFill/>
        </p:spPr>
        <p:txBody>
          <a:bodyPr wrap="square">
            <a:spAutoFit/>
          </a:bodyPr>
          <a:lstStyle/>
          <a:p>
            <a:r>
              <a:rPr lang="en-US" sz="2400" b="1" dirty="0">
                <a:latin typeface="Arial Black" panose="020B0A04020102020204" pitchFamily="34" charset="0"/>
              </a:rPr>
              <a:t>Analysis of “KDE Before vs After Outlier Removal (Year)” Plot</a:t>
            </a:r>
          </a:p>
        </p:txBody>
      </p:sp>
      <p:sp>
        <p:nvSpPr>
          <p:cNvPr id="8" name="TextBox 7">
            <a:extLst>
              <a:ext uri="{FF2B5EF4-FFF2-40B4-BE49-F238E27FC236}">
                <a16:creationId xmlns:a16="http://schemas.microsoft.com/office/drawing/2014/main" id="{E952D047-112E-CE9D-069D-F1DA038232DB}"/>
              </a:ext>
            </a:extLst>
          </p:cNvPr>
          <p:cNvSpPr txBox="1"/>
          <p:nvPr/>
        </p:nvSpPr>
        <p:spPr>
          <a:xfrm>
            <a:off x="5871410" y="2302619"/>
            <a:ext cx="6096000" cy="3046988"/>
          </a:xfrm>
          <a:prstGeom prst="rect">
            <a:avLst/>
          </a:prstGeom>
          <a:noFill/>
        </p:spPr>
        <p:txBody>
          <a:bodyPr wrap="square">
            <a:spAutoFit/>
          </a:bodyPr>
          <a:lstStyle/>
          <a:p>
            <a:r>
              <a:rPr lang="en-US" sz="2400" b="1" dirty="0">
                <a:solidFill>
                  <a:schemeClr val="accent1">
                    <a:lumMod val="75000"/>
                  </a:schemeClr>
                </a:solidFill>
                <a:latin typeface="Aptos Display" panose="020B0004020202020204" pitchFamily="34" charset="0"/>
              </a:rPr>
              <a:t>Outlier removal improves the KDE shape by eliminating rare early-year anomalies.</a:t>
            </a:r>
            <a:br>
              <a:rPr lang="en-US" sz="2400" b="1" dirty="0">
                <a:solidFill>
                  <a:schemeClr val="accent1">
                    <a:lumMod val="75000"/>
                  </a:schemeClr>
                </a:solidFill>
                <a:latin typeface="Aptos Display" panose="020B0004020202020204" pitchFamily="34" charset="0"/>
              </a:rPr>
            </a:br>
            <a:r>
              <a:rPr lang="en-US" sz="2400" b="1" dirty="0">
                <a:solidFill>
                  <a:schemeClr val="accent1">
                    <a:lumMod val="75000"/>
                  </a:schemeClr>
                </a:solidFill>
                <a:latin typeface="Aptos Display" panose="020B0004020202020204" pitchFamily="34" charset="0"/>
              </a:rPr>
              <a:t>The cleaned distribution shows a smoother and more accurate concentration of tracks around 2010–2023, confirming the dataset is heavily modern-focused.</a:t>
            </a:r>
            <a:br>
              <a:rPr lang="en-US" sz="2400" b="1" dirty="0">
                <a:solidFill>
                  <a:schemeClr val="accent1">
                    <a:lumMod val="75000"/>
                  </a:schemeClr>
                </a:solidFill>
                <a:latin typeface="Aptos Display" panose="020B0004020202020204" pitchFamily="34" charset="0"/>
              </a:rPr>
            </a:br>
            <a:r>
              <a:rPr lang="en-US" sz="2400" b="1" dirty="0">
                <a:solidFill>
                  <a:schemeClr val="accent1">
                    <a:lumMod val="75000"/>
                  </a:schemeClr>
                </a:solidFill>
                <a:latin typeface="Aptos Display" panose="020B0004020202020204" pitchFamily="34" charset="0"/>
              </a:rPr>
              <a:t>The process enhances clarity without changing the main trend.</a:t>
            </a:r>
          </a:p>
        </p:txBody>
      </p:sp>
      <p:sp>
        <p:nvSpPr>
          <p:cNvPr id="10" name="TextBox 9">
            <a:extLst>
              <a:ext uri="{FF2B5EF4-FFF2-40B4-BE49-F238E27FC236}">
                <a16:creationId xmlns:a16="http://schemas.microsoft.com/office/drawing/2014/main" id="{2148C8A6-8897-504F-279D-B8384853B478}"/>
              </a:ext>
            </a:extLst>
          </p:cNvPr>
          <p:cNvSpPr txBox="1"/>
          <p:nvPr/>
        </p:nvSpPr>
        <p:spPr>
          <a:xfrm>
            <a:off x="4010526" y="241900"/>
            <a:ext cx="6096000" cy="584775"/>
          </a:xfrm>
          <a:prstGeom prst="rect">
            <a:avLst/>
          </a:prstGeom>
          <a:noFill/>
        </p:spPr>
        <p:txBody>
          <a:bodyPr wrap="square">
            <a:spAutoFit/>
          </a:bodyPr>
          <a:lstStyle/>
          <a:p>
            <a:r>
              <a:rPr lang="en-US" sz="3200" dirty="0">
                <a:solidFill>
                  <a:srgbClr val="00B050"/>
                </a:solidFill>
                <a:latin typeface="Arial Black" panose="020B0A04020102020204" pitchFamily="34" charset="0"/>
              </a:rPr>
              <a:t>Outlier Analysis </a:t>
            </a:r>
            <a:endParaRPr lang="en-US" sz="3200" dirty="0">
              <a:solidFill>
                <a:srgbClr val="00B050"/>
              </a:solidFill>
            </a:endParaRPr>
          </a:p>
        </p:txBody>
      </p:sp>
    </p:spTree>
    <p:extLst>
      <p:ext uri="{BB962C8B-B14F-4D97-AF65-F5344CB8AC3E}">
        <p14:creationId xmlns:p14="http://schemas.microsoft.com/office/powerpoint/2010/main" val="1186750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8CDE76-C6ED-7BC8-7223-FF623AC1BC7B}"/>
              </a:ext>
            </a:extLst>
          </p:cNvPr>
          <p:cNvSpPr txBox="1"/>
          <p:nvPr/>
        </p:nvSpPr>
        <p:spPr>
          <a:xfrm>
            <a:off x="2667000" y="2502654"/>
            <a:ext cx="6858000" cy="1446550"/>
          </a:xfrm>
          <a:prstGeom prst="rect">
            <a:avLst/>
          </a:prstGeom>
          <a:noFill/>
        </p:spPr>
        <p:txBody>
          <a:bodyPr wrap="square">
            <a:spAutoFit/>
          </a:bodyPr>
          <a:lstStyle/>
          <a:p>
            <a:r>
              <a:rPr lang="en-US" sz="8800" dirty="0">
                <a:solidFill>
                  <a:schemeClr val="accent3">
                    <a:lumMod val="50000"/>
                  </a:schemeClr>
                </a:solidFill>
                <a:latin typeface="Algerian" panose="04020705040A02060702" pitchFamily="82" charset="0"/>
              </a:rPr>
              <a:t>THANK YOU!</a:t>
            </a:r>
          </a:p>
        </p:txBody>
      </p:sp>
    </p:spTree>
    <p:extLst>
      <p:ext uri="{BB962C8B-B14F-4D97-AF65-F5344CB8AC3E}">
        <p14:creationId xmlns:p14="http://schemas.microsoft.com/office/powerpoint/2010/main" val="2262378364"/>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{697FB887-D10D-43AF-9140-BAF13F4021E7}TF62d0d592-7ac2-4846-a919-75806e8bead49553d537-f813ce055067</Template>
  <TotalTime>2134</TotalTime>
  <Words>3119</Words>
  <Application>Microsoft Office PowerPoint</Application>
  <PresentationFormat>Widescreen</PresentationFormat>
  <Paragraphs>222</Paragraphs>
  <Slides>34</Slides>
  <Notes>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34</vt:i4>
      </vt:variant>
    </vt:vector>
  </HeadingPairs>
  <TitlesOfParts>
    <vt:vector size="48" baseType="lpstr">
      <vt:lpstr>Algerian</vt:lpstr>
      <vt:lpstr>Aptos Display</vt:lpstr>
      <vt:lpstr>Aptos Narrow</vt:lpstr>
      <vt:lpstr>Arial</vt:lpstr>
      <vt:lpstr>Arial Black</vt:lpstr>
      <vt:lpstr>Arial Narrow</vt:lpstr>
      <vt:lpstr>Artifakt Element Heavy</vt:lpstr>
      <vt:lpstr>Bahnschrift Condensed</vt:lpstr>
      <vt:lpstr>Bahnschrift SemiBold Condensed</vt:lpstr>
      <vt:lpstr>Bahnschrift SemiBold SemiConden</vt:lpstr>
      <vt:lpstr>Calibri</vt:lpstr>
      <vt:lpstr>Garamond</vt:lpstr>
      <vt:lpstr>Tw Cen MT</vt:lpstr>
      <vt:lpstr>Droplet</vt:lpstr>
      <vt:lpstr>Decoding Hit Songs: A Data-Driven Journey into Spotify’s Sound DNA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SK MOSARAF</dc:creator>
  <cp:lastModifiedBy>SK MOSARAF</cp:lastModifiedBy>
  <cp:revision>3</cp:revision>
  <dcterms:created xsi:type="dcterms:W3CDTF">2025-11-24T05:52:59Z</dcterms:created>
  <dcterms:modified xsi:type="dcterms:W3CDTF">2025-11-25T17:27:09Z</dcterms:modified>
</cp:coreProperties>
</file>